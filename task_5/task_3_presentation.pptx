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imo" charset="1" panose="020B0604020202020204"/>
      <p:regular r:id="rId16"/>
    </p:embeddedFont>
    <p:embeddedFont>
      <p:font typeface="Lato" charset="1" panose="020F0502020204030203"/>
      <p:regular r:id="rId17"/>
    </p:embeddedFont>
    <p:embeddedFont>
      <p:font typeface="Consolas" charset="1" panose="020B0609020204030204"/>
      <p:regular r:id="rId21"/>
    </p:embeddedFont>
    <p:embeddedFont>
      <p:font typeface="Lato Bold" charset="1" panose="020F05020202040302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notesSlides/notesSlide2.xml" Type="http://schemas.openxmlformats.org/officeDocument/2006/relationships/notesSlide"/><Relationship Id="rId19" Target="notesSlides/notesSlide3.xml" Type="http://schemas.openxmlformats.org/officeDocument/2006/relationships/notesSlide"/><Relationship Id="rId2" Target="presProps.xml" Type="http://schemas.openxmlformats.org/officeDocument/2006/relationships/presProps"/><Relationship Id="rId20" Target="notesSlides/notesSlide4.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https://gamma.app/?utm_source=made-with-gamma" TargetMode="External" Type="http://schemas.openxmlformats.org/officeDocument/2006/relationships/hyperlink"/><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Freeform 5" id="5" descr="preencoded.png">
            <a:hlinkClick r:id="rId5"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4"/>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6"/>
            <a:stretch>
              <a:fillRect l="0" t="0" r="0" b="0"/>
            </a:stretch>
          </a:blipFill>
        </p:spPr>
      </p:sp>
      <p:grpSp>
        <p:nvGrpSpPr>
          <p:cNvPr name="Group 7" id="7"/>
          <p:cNvGrpSpPr/>
          <p:nvPr/>
        </p:nvGrpSpPr>
        <p:grpSpPr>
          <a:xfrm rot="0">
            <a:off x="992238" y="3187154"/>
            <a:ext cx="8799823" cy="1132367"/>
            <a:chOff x="0" y="0"/>
            <a:chExt cx="11733097" cy="1509823"/>
          </a:xfrm>
        </p:grpSpPr>
        <p:sp>
          <p:nvSpPr>
            <p:cNvPr name="Freeform 8" id="8"/>
            <p:cNvSpPr/>
            <p:nvPr/>
          </p:nvSpPr>
          <p:spPr>
            <a:xfrm flipH="false" flipV="false" rot="0">
              <a:off x="0" y="0"/>
              <a:ext cx="11733098" cy="1509823"/>
            </a:xfrm>
            <a:custGeom>
              <a:avLst/>
              <a:gdLst/>
              <a:ahLst/>
              <a:cxnLst/>
              <a:rect r="r" b="b" t="t" l="l"/>
              <a:pathLst>
                <a:path h="1509823" w="11733098">
                  <a:moveTo>
                    <a:pt x="0" y="0"/>
                  </a:moveTo>
                  <a:lnTo>
                    <a:pt x="11733098" y="0"/>
                  </a:lnTo>
                  <a:lnTo>
                    <a:pt x="11733098" y="1509823"/>
                  </a:lnTo>
                  <a:lnTo>
                    <a:pt x="0" y="1509823"/>
                  </a:lnTo>
                  <a:close/>
                </a:path>
              </a:pathLst>
            </a:custGeom>
            <a:solidFill>
              <a:srgbClr val="000000">
                <a:alpha val="0"/>
              </a:srgbClr>
            </a:solidFill>
          </p:spPr>
        </p:sp>
        <p:sp>
          <p:nvSpPr>
            <p:cNvPr name="TextBox 9" id="9"/>
            <p:cNvSpPr txBox="true"/>
            <p:nvPr/>
          </p:nvSpPr>
          <p:spPr>
            <a:xfrm>
              <a:off x="0" y="-57150"/>
              <a:ext cx="11733097" cy="1566973"/>
            </a:xfrm>
            <a:prstGeom prst="rect">
              <a:avLst/>
            </a:prstGeom>
          </p:spPr>
          <p:txBody>
            <a:bodyPr anchor="t" rtlCol="false" tIns="0" lIns="0" bIns="0" rIns="0"/>
            <a:lstStyle/>
            <a:p>
              <a:pPr algn="l">
                <a:lnSpc>
                  <a:spcPts val="6937"/>
                </a:lnSpc>
              </a:pPr>
              <a:r>
                <a:rPr lang="en-US" sz="5562">
                  <a:solidFill>
                    <a:srgbClr val="312F2B"/>
                  </a:solidFill>
                  <a:latin typeface="Arimo"/>
                  <a:ea typeface="Arimo"/>
                  <a:cs typeface="Arimo"/>
                  <a:sym typeface="Arimo"/>
                </a:rPr>
                <a:t>Space Explorer Flutter App</a:t>
              </a:r>
            </a:p>
          </p:txBody>
        </p:sp>
      </p:grpSp>
      <p:grpSp>
        <p:nvGrpSpPr>
          <p:cNvPr name="Group 10" id="10"/>
          <p:cNvGrpSpPr/>
          <p:nvPr/>
        </p:nvGrpSpPr>
        <p:grpSpPr>
          <a:xfrm rot="0">
            <a:off x="992238" y="4831705"/>
            <a:ext cx="9445526" cy="2268141"/>
            <a:chOff x="0" y="0"/>
            <a:chExt cx="12594035" cy="3024188"/>
          </a:xfrm>
        </p:grpSpPr>
        <p:sp>
          <p:nvSpPr>
            <p:cNvPr name="Freeform 11" id="11"/>
            <p:cNvSpPr/>
            <p:nvPr/>
          </p:nvSpPr>
          <p:spPr>
            <a:xfrm flipH="false" flipV="false" rot="0">
              <a:off x="0" y="0"/>
              <a:ext cx="12594035" cy="3024188"/>
            </a:xfrm>
            <a:custGeom>
              <a:avLst/>
              <a:gdLst/>
              <a:ahLst/>
              <a:cxnLst/>
              <a:rect r="r" b="b" t="t" l="l"/>
              <a:pathLst>
                <a:path h="3024188" w="12594035">
                  <a:moveTo>
                    <a:pt x="0" y="0"/>
                  </a:moveTo>
                  <a:lnTo>
                    <a:pt x="12594035" y="0"/>
                  </a:lnTo>
                  <a:lnTo>
                    <a:pt x="12594035" y="3024188"/>
                  </a:lnTo>
                  <a:lnTo>
                    <a:pt x="0" y="3024188"/>
                  </a:lnTo>
                  <a:close/>
                </a:path>
              </a:pathLst>
            </a:custGeom>
            <a:solidFill>
              <a:srgbClr val="000000">
                <a:alpha val="0"/>
              </a:srgbClr>
            </a:solidFill>
          </p:spPr>
        </p:sp>
        <p:sp>
          <p:nvSpPr>
            <p:cNvPr name="TextBox 12" id="12"/>
            <p:cNvSpPr txBox="true"/>
            <p:nvPr/>
          </p:nvSpPr>
          <p:spPr>
            <a:xfrm>
              <a:off x="0" y="-95250"/>
              <a:ext cx="12594035" cy="3119438"/>
            </a:xfrm>
            <a:prstGeom prst="rect">
              <a:avLst/>
            </a:prstGeom>
          </p:spPr>
          <p:txBody>
            <a:bodyPr anchor="t" rtlCol="false" tIns="0" lIns="0" bIns="0" rIns="0"/>
            <a:lstStyle/>
            <a:p>
              <a:pPr algn="l">
                <a:lnSpc>
                  <a:spcPts val="3562"/>
                </a:lnSpc>
              </a:pPr>
              <a:r>
                <a:rPr lang="en-US" sz="2187">
                  <a:solidFill>
                    <a:srgbClr val="272525"/>
                  </a:solidFill>
                  <a:latin typeface="Lato"/>
                  <a:ea typeface="Lato"/>
                  <a:cs typeface="Lato"/>
                  <a:sym typeface="Lato"/>
                </a:rPr>
                <a:t>Embark on an interstellar journey with the Space Explorer Flutter App, a comprehensive exploration tool designed for enthusiasts and developers alike. This presentation will guide you through the app’s development process, showcasing its features, architecture, and the challenges overcome during its creation.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5" id="5"/>
          <p:cNvGrpSpPr/>
          <p:nvPr/>
        </p:nvGrpSpPr>
        <p:grpSpPr>
          <a:xfrm rot="0">
            <a:off x="7847559" y="777479"/>
            <a:ext cx="7068591" cy="883593"/>
            <a:chOff x="0" y="0"/>
            <a:chExt cx="9424788" cy="1178123"/>
          </a:xfrm>
        </p:grpSpPr>
        <p:sp>
          <p:nvSpPr>
            <p:cNvPr name="Freeform 6" id="6"/>
            <p:cNvSpPr/>
            <p:nvPr/>
          </p:nvSpPr>
          <p:spPr>
            <a:xfrm flipH="false" flipV="false" rot="0">
              <a:off x="0" y="0"/>
              <a:ext cx="9424788" cy="1178123"/>
            </a:xfrm>
            <a:custGeom>
              <a:avLst/>
              <a:gdLst/>
              <a:ahLst/>
              <a:cxnLst/>
              <a:rect r="r" b="b" t="t" l="l"/>
              <a:pathLst>
                <a:path h="1178123" w="9424788">
                  <a:moveTo>
                    <a:pt x="0" y="0"/>
                  </a:moveTo>
                  <a:lnTo>
                    <a:pt x="9424788" y="0"/>
                  </a:lnTo>
                  <a:lnTo>
                    <a:pt x="9424788" y="1178123"/>
                  </a:lnTo>
                  <a:lnTo>
                    <a:pt x="0" y="1178123"/>
                  </a:lnTo>
                  <a:close/>
                </a:path>
              </a:pathLst>
            </a:custGeom>
            <a:solidFill>
              <a:srgbClr val="000000">
                <a:alpha val="0"/>
              </a:srgbClr>
            </a:solidFill>
          </p:spPr>
        </p:sp>
        <p:sp>
          <p:nvSpPr>
            <p:cNvPr name="TextBox 7" id="7"/>
            <p:cNvSpPr txBox="true"/>
            <p:nvPr/>
          </p:nvSpPr>
          <p:spPr>
            <a:xfrm>
              <a:off x="0" y="-57150"/>
              <a:ext cx="9424788" cy="1235273"/>
            </a:xfrm>
            <a:prstGeom prst="rect">
              <a:avLst/>
            </a:prstGeom>
          </p:spPr>
          <p:txBody>
            <a:bodyPr anchor="t" rtlCol="false" tIns="0" lIns="0" bIns="0" rIns="0"/>
            <a:lstStyle/>
            <a:p>
              <a:pPr algn="l">
                <a:lnSpc>
                  <a:spcPts val="6937"/>
                </a:lnSpc>
              </a:pPr>
              <a:r>
                <a:rPr lang="en-US" sz="5562">
                  <a:solidFill>
                    <a:srgbClr val="312F2B"/>
                  </a:solidFill>
                  <a:latin typeface="Arimo"/>
                  <a:ea typeface="Arimo"/>
                  <a:cs typeface="Arimo"/>
                  <a:sym typeface="Arimo"/>
                </a:rPr>
                <a:t>Project Overview</a:t>
              </a:r>
            </a:p>
          </p:txBody>
        </p:sp>
      </p:grpSp>
      <p:grpSp>
        <p:nvGrpSpPr>
          <p:cNvPr name="Group 8" id="8"/>
          <p:cNvGrpSpPr/>
          <p:nvPr/>
        </p:nvGrpSpPr>
        <p:grpSpPr>
          <a:xfrm rot="0">
            <a:off x="7842796" y="2398365"/>
            <a:ext cx="645616" cy="645616"/>
            <a:chOff x="0" y="0"/>
            <a:chExt cx="860822" cy="860822"/>
          </a:xfrm>
        </p:grpSpPr>
        <p:sp>
          <p:nvSpPr>
            <p:cNvPr name="Freeform 9" id="9"/>
            <p:cNvSpPr/>
            <p:nvPr/>
          </p:nvSpPr>
          <p:spPr>
            <a:xfrm flipH="false" flipV="false" rot="0">
              <a:off x="6350" y="6350"/>
              <a:ext cx="848106" cy="848106"/>
            </a:xfrm>
            <a:custGeom>
              <a:avLst/>
              <a:gdLst/>
              <a:ahLst/>
              <a:cxnLst/>
              <a:rect r="r" b="b" t="t" l="l"/>
              <a:pathLst>
                <a:path h="848106" w="848106">
                  <a:moveTo>
                    <a:pt x="0" y="158369"/>
                  </a:moveTo>
                  <a:cubicBezTo>
                    <a:pt x="0" y="70866"/>
                    <a:pt x="70866" y="0"/>
                    <a:pt x="158369" y="0"/>
                  </a:cubicBezTo>
                  <a:lnTo>
                    <a:pt x="689737" y="0"/>
                  </a:lnTo>
                  <a:cubicBezTo>
                    <a:pt x="777240" y="0"/>
                    <a:pt x="848106" y="70866"/>
                    <a:pt x="848106" y="158369"/>
                  </a:cubicBezTo>
                  <a:lnTo>
                    <a:pt x="848106" y="689737"/>
                  </a:lnTo>
                  <a:cubicBezTo>
                    <a:pt x="848106" y="777240"/>
                    <a:pt x="777240" y="848106"/>
                    <a:pt x="689737" y="848106"/>
                  </a:cubicBezTo>
                  <a:lnTo>
                    <a:pt x="158369" y="848106"/>
                  </a:lnTo>
                  <a:cubicBezTo>
                    <a:pt x="70866" y="848106"/>
                    <a:pt x="0" y="777240"/>
                    <a:pt x="0" y="689737"/>
                  </a:cubicBezTo>
                  <a:close/>
                </a:path>
              </a:pathLst>
            </a:custGeom>
            <a:solidFill>
              <a:srgbClr val="E8E8E3"/>
            </a:solidFill>
          </p:spPr>
        </p:sp>
        <p:sp>
          <p:nvSpPr>
            <p:cNvPr name="Freeform 10" id="10"/>
            <p:cNvSpPr/>
            <p:nvPr/>
          </p:nvSpPr>
          <p:spPr>
            <a:xfrm flipH="false" flipV="false" rot="0">
              <a:off x="0" y="0"/>
              <a:ext cx="860806" cy="860806"/>
            </a:xfrm>
            <a:custGeom>
              <a:avLst/>
              <a:gdLst/>
              <a:ahLst/>
              <a:cxnLst/>
              <a:rect r="r" b="b" t="t" l="l"/>
              <a:pathLst>
                <a:path h="860806" w="860806">
                  <a:moveTo>
                    <a:pt x="0" y="164719"/>
                  </a:moveTo>
                  <a:cubicBezTo>
                    <a:pt x="0" y="73787"/>
                    <a:pt x="73787" y="0"/>
                    <a:pt x="164719" y="0"/>
                  </a:cubicBezTo>
                  <a:lnTo>
                    <a:pt x="696087" y="0"/>
                  </a:lnTo>
                  <a:lnTo>
                    <a:pt x="696087" y="6350"/>
                  </a:lnTo>
                  <a:lnTo>
                    <a:pt x="696087" y="0"/>
                  </a:lnTo>
                  <a:lnTo>
                    <a:pt x="696087" y="6350"/>
                  </a:lnTo>
                  <a:lnTo>
                    <a:pt x="696087" y="0"/>
                  </a:lnTo>
                  <a:cubicBezTo>
                    <a:pt x="787019" y="0"/>
                    <a:pt x="860806" y="73787"/>
                    <a:pt x="860806" y="164719"/>
                  </a:cubicBezTo>
                  <a:lnTo>
                    <a:pt x="854456" y="164719"/>
                  </a:lnTo>
                  <a:lnTo>
                    <a:pt x="860806" y="164719"/>
                  </a:lnTo>
                  <a:lnTo>
                    <a:pt x="860806" y="696087"/>
                  </a:lnTo>
                  <a:lnTo>
                    <a:pt x="854456" y="696087"/>
                  </a:lnTo>
                  <a:lnTo>
                    <a:pt x="860806" y="696087"/>
                  </a:lnTo>
                  <a:cubicBezTo>
                    <a:pt x="860806" y="787019"/>
                    <a:pt x="787019" y="860806"/>
                    <a:pt x="696087" y="860806"/>
                  </a:cubicBezTo>
                  <a:lnTo>
                    <a:pt x="696087" y="854456"/>
                  </a:lnTo>
                  <a:lnTo>
                    <a:pt x="696087" y="860806"/>
                  </a:lnTo>
                  <a:lnTo>
                    <a:pt x="164719" y="860806"/>
                  </a:lnTo>
                  <a:lnTo>
                    <a:pt x="164719" y="854456"/>
                  </a:lnTo>
                  <a:lnTo>
                    <a:pt x="164719" y="860806"/>
                  </a:lnTo>
                  <a:cubicBezTo>
                    <a:pt x="73787" y="860806"/>
                    <a:pt x="0" y="787146"/>
                    <a:pt x="0" y="696087"/>
                  </a:cubicBezTo>
                  <a:lnTo>
                    <a:pt x="0" y="164719"/>
                  </a:lnTo>
                  <a:lnTo>
                    <a:pt x="6350" y="164719"/>
                  </a:lnTo>
                  <a:lnTo>
                    <a:pt x="0" y="164719"/>
                  </a:lnTo>
                  <a:moveTo>
                    <a:pt x="12700" y="164719"/>
                  </a:moveTo>
                  <a:lnTo>
                    <a:pt x="12700" y="696087"/>
                  </a:lnTo>
                  <a:lnTo>
                    <a:pt x="6350" y="696087"/>
                  </a:lnTo>
                  <a:lnTo>
                    <a:pt x="12700" y="696087"/>
                  </a:lnTo>
                  <a:cubicBezTo>
                    <a:pt x="12700" y="780034"/>
                    <a:pt x="80772" y="848106"/>
                    <a:pt x="164719" y="848106"/>
                  </a:cubicBezTo>
                  <a:lnTo>
                    <a:pt x="696087" y="848106"/>
                  </a:lnTo>
                  <a:cubicBezTo>
                    <a:pt x="780034" y="848106"/>
                    <a:pt x="848106" y="780034"/>
                    <a:pt x="848106" y="696087"/>
                  </a:cubicBezTo>
                  <a:lnTo>
                    <a:pt x="848106" y="164719"/>
                  </a:lnTo>
                  <a:cubicBezTo>
                    <a:pt x="848106" y="80772"/>
                    <a:pt x="780034" y="12700"/>
                    <a:pt x="696087" y="12700"/>
                  </a:cubicBezTo>
                  <a:lnTo>
                    <a:pt x="164719" y="12700"/>
                  </a:lnTo>
                  <a:lnTo>
                    <a:pt x="164719" y="6350"/>
                  </a:lnTo>
                  <a:lnTo>
                    <a:pt x="164719" y="12700"/>
                  </a:lnTo>
                  <a:cubicBezTo>
                    <a:pt x="80772" y="12700"/>
                    <a:pt x="12700" y="80772"/>
                    <a:pt x="12700" y="164719"/>
                  </a:cubicBezTo>
                  <a:close/>
                </a:path>
              </a:pathLst>
            </a:custGeom>
            <a:solidFill>
              <a:srgbClr val="CECEC9"/>
            </a:solidFill>
          </p:spPr>
        </p:sp>
      </p:grpSp>
      <p:grpSp>
        <p:nvGrpSpPr>
          <p:cNvPr name="Group 11" id="11"/>
          <p:cNvGrpSpPr/>
          <p:nvPr/>
        </p:nvGrpSpPr>
        <p:grpSpPr>
          <a:xfrm rot="0">
            <a:off x="8766274" y="2403128"/>
            <a:ext cx="3665488" cy="883444"/>
            <a:chOff x="0" y="0"/>
            <a:chExt cx="4887317" cy="1177925"/>
          </a:xfrm>
        </p:grpSpPr>
        <p:sp>
          <p:nvSpPr>
            <p:cNvPr name="Freeform 12" id="12"/>
            <p:cNvSpPr/>
            <p:nvPr/>
          </p:nvSpPr>
          <p:spPr>
            <a:xfrm flipH="false" flipV="false" rot="0">
              <a:off x="0" y="0"/>
              <a:ext cx="4887317" cy="1177925"/>
            </a:xfrm>
            <a:custGeom>
              <a:avLst/>
              <a:gdLst/>
              <a:ahLst/>
              <a:cxnLst/>
              <a:rect r="r" b="b" t="t" l="l"/>
              <a:pathLst>
                <a:path h="1177925" w="4887317">
                  <a:moveTo>
                    <a:pt x="0" y="0"/>
                  </a:moveTo>
                  <a:lnTo>
                    <a:pt x="4887317" y="0"/>
                  </a:lnTo>
                  <a:lnTo>
                    <a:pt x="4887317" y="1177925"/>
                  </a:lnTo>
                  <a:lnTo>
                    <a:pt x="0" y="1177925"/>
                  </a:lnTo>
                  <a:close/>
                </a:path>
              </a:pathLst>
            </a:custGeom>
            <a:solidFill>
              <a:srgbClr val="000000">
                <a:alpha val="0"/>
              </a:srgbClr>
            </a:solidFill>
          </p:spPr>
        </p:sp>
        <p:sp>
          <p:nvSpPr>
            <p:cNvPr name="TextBox 13" id="13"/>
            <p:cNvSpPr txBox="true"/>
            <p:nvPr/>
          </p:nvSpPr>
          <p:spPr>
            <a:xfrm>
              <a:off x="0" y="-38100"/>
              <a:ext cx="4887317" cy="1216025"/>
            </a:xfrm>
            <a:prstGeom prst="rect">
              <a:avLst/>
            </a:prstGeom>
          </p:spPr>
          <p:txBody>
            <a:bodyPr anchor="t" rtlCol="false" tIns="0" lIns="0" bIns="0" rIns="0"/>
            <a:lstStyle/>
            <a:p>
              <a:pPr algn="l">
                <a:lnSpc>
                  <a:spcPts val="3437"/>
                </a:lnSpc>
              </a:pPr>
              <a:r>
                <a:rPr lang="en-US" sz="2750">
                  <a:solidFill>
                    <a:srgbClr val="272525"/>
                  </a:solidFill>
                  <a:latin typeface="Arimo"/>
                  <a:ea typeface="Arimo"/>
                  <a:cs typeface="Arimo"/>
                  <a:sym typeface="Arimo"/>
                </a:rPr>
                <a:t>Browse Celestial Bodies</a:t>
              </a:r>
            </a:p>
          </p:txBody>
        </p:sp>
      </p:grpSp>
      <p:grpSp>
        <p:nvGrpSpPr>
          <p:cNvPr name="Group 14" id="14"/>
          <p:cNvGrpSpPr/>
          <p:nvPr/>
        </p:nvGrpSpPr>
        <p:grpSpPr>
          <a:xfrm rot="0">
            <a:off x="8766274" y="3456086"/>
            <a:ext cx="3665488" cy="2262188"/>
            <a:chOff x="0" y="0"/>
            <a:chExt cx="4887317" cy="3016250"/>
          </a:xfrm>
        </p:grpSpPr>
        <p:sp>
          <p:nvSpPr>
            <p:cNvPr name="Freeform 15" id="15"/>
            <p:cNvSpPr/>
            <p:nvPr/>
          </p:nvSpPr>
          <p:spPr>
            <a:xfrm flipH="false" flipV="false" rot="0">
              <a:off x="0" y="0"/>
              <a:ext cx="4887317" cy="3016250"/>
            </a:xfrm>
            <a:custGeom>
              <a:avLst/>
              <a:gdLst/>
              <a:ahLst/>
              <a:cxnLst/>
              <a:rect r="r" b="b" t="t" l="l"/>
              <a:pathLst>
                <a:path h="3016250" w="4887317">
                  <a:moveTo>
                    <a:pt x="0" y="0"/>
                  </a:moveTo>
                  <a:lnTo>
                    <a:pt x="4887317" y="0"/>
                  </a:lnTo>
                  <a:lnTo>
                    <a:pt x="4887317" y="3016250"/>
                  </a:lnTo>
                  <a:lnTo>
                    <a:pt x="0" y="3016250"/>
                  </a:lnTo>
                  <a:close/>
                </a:path>
              </a:pathLst>
            </a:custGeom>
            <a:solidFill>
              <a:srgbClr val="000000">
                <a:alpha val="0"/>
              </a:srgbClr>
            </a:solidFill>
          </p:spPr>
        </p:sp>
        <p:sp>
          <p:nvSpPr>
            <p:cNvPr name="TextBox 16" id="16"/>
            <p:cNvSpPr txBox="true"/>
            <p:nvPr/>
          </p:nvSpPr>
          <p:spPr>
            <a:xfrm>
              <a:off x="0" y="-95250"/>
              <a:ext cx="4887317" cy="3111500"/>
            </a:xfrm>
            <a:prstGeom prst="rect">
              <a:avLst/>
            </a:prstGeom>
          </p:spPr>
          <p:txBody>
            <a:bodyPr anchor="t" rtlCol="false" tIns="0" lIns="0" bIns="0" rIns="0"/>
            <a:lstStyle/>
            <a:p>
              <a:pPr algn="l">
                <a:lnSpc>
                  <a:spcPts val="3500"/>
                </a:lnSpc>
              </a:pPr>
              <a:r>
                <a:rPr lang="en-US" sz="2187">
                  <a:solidFill>
                    <a:srgbClr val="272525"/>
                  </a:solidFill>
                  <a:latin typeface="Lato"/>
                  <a:ea typeface="Lato"/>
                  <a:cs typeface="Lato"/>
                  <a:sym typeface="Lato"/>
                </a:rPr>
                <a:t>Explore a vast catalog of planets, stars, galaxies, and other cosmic entities, each with unique properties and fascinating details.</a:t>
              </a:r>
            </a:p>
          </p:txBody>
        </p:sp>
      </p:grpSp>
      <p:grpSp>
        <p:nvGrpSpPr>
          <p:cNvPr name="Group 17" id="17"/>
          <p:cNvGrpSpPr/>
          <p:nvPr/>
        </p:nvGrpSpPr>
        <p:grpSpPr>
          <a:xfrm rot="0">
            <a:off x="12709624" y="2398365"/>
            <a:ext cx="645616" cy="645616"/>
            <a:chOff x="0" y="0"/>
            <a:chExt cx="860822" cy="860822"/>
          </a:xfrm>
        </p:grpSpPr>
        <p:sp>
          <p:nvSpPr>
            <p:cNvPr name="Freeform 18" id="18"/>
            <p:cNvSpPr/>
            <p:nvPr/>
          </p:nvSpPr>
          <p:spPr>
            <a:xfrm flipH="false" flipV="false" rot="0">
              <a:off x="6350" y="6350"/>
              <a:ext cx="848106" cy="848106"/>
            </a:xfrm>
            <a:custGeom>
              <a:avLst/>
              <a:gdLst/>
              <a:ahLst/>
              <a:cxnLst/>
              <a:rect r="r" b="b" t="t" l="l"/>
              <a:pathLst>
                <a:path h="848106" w="848106">
                  <a:moveTo>
                    <a:pt x="0" y="158369"/>
                  </a:moveTo>
                  <a:cubicBezTo>
                    <a:pt x="0" y="70866"/>
                    <a:pt x="70866" y="0"/>
                    <a:pt x="158369" y="0"/>
                  </a:cubicBezTo>
                  <a:lnTo>
                    <a:pt x="689737" y="0"/>
                  </a:lnTo>
                  <a:cubicBezTo>
                    <a:pt x="777240" y="0"/>
                    <a:pt x="848106" y="70866"/>
                    <a:pt x="848106" y="158369"/>
                  </a:cubicBezTo>
                  <a:lnTo>
                    <a:pt x="848106" y="689737"/>
                  </a:lnTo>
                  <a:cubicBezTo>
                    <a:pt x="848106" y="777240"/>
                    <a:pt x="777240" y="848106"/>
                    <a:pt x="689737" y="848106"/>
                  </a:cubicBezTo>
                  <a:lnTo>
                    <a:pt x="158369" y="848106"/>
                  </a:lnTo>
                  <a:cubicBezTo>
                    <a:pt x="70866" y="848106"/>
                    <a:pt x="0" y="777240"/>
                    <a:pt x="0" y="689737"/>
                  </a:cubicBezTo>
                  <a:close/>
                </a:path>
              </a:pathLst>
            </a:custGeom>
            <a:solidFill>
              <a:srgbClr val="E8E8E3"/>
            </a:solidFill>
          </p:spPr>
        </p:sp>
        <p:sp>
          <p:nvSpPr>
            <p:cNvPr name="Freeform 19" id="19"/>
            <p:cNvSpPr/>
            <p:nvPr/>
          </p:nvSpPr>
          <p:spPr>
            <a:xfrm flipH="false" flipV="false" rot="0">
              <a:off x="0" y="0"/>
              <a:ext cx="860806" cy="860806"/>
            </a:xfrm>
            <a:custGeom>
              <a:avLst/>
              <a:gdLst/>
              <a:ahLst/>
              <a:cxnLst/>
              <a:rect r="r" b="b" t="t" l="l"/>
              <a:pathLst>
                <a:path h="860806" w="860806">
                  <a:moveTo>
                    <a:pt x="0" y="164719"/>
                  </a:moveTo>
                  <a:cubicBezTo>
                    <a:pt x="0" y="73787"/>
                    <a:pt x="73787" y="0"/>
                    <a:pt x="164719" y="0"/>
                  </a:cubicBezTo>
                  <a:lnTo>
                    <a:pt x="696087" y="0"/>
                  </a:lnTo>
                  <a:lnTo>
                    <a:pt x="696087" y="6350"/>
                  </a:lnTo>
                  <a:lnTo>
                    <a:pt x="696087" y="0"/>
                  </a:lnTo>
                  <a:lnTo>
                    <a:pt x="696087" y="6350"/>
                  </a:lnTo>
                  <a:lnTo>
                    <a:pt x="696087" y="0"/>
                  </a:lnTo>
                  <a:cubicBezTo>
                    <a:pt x="787019" y="0"/>
                    <a:pt x="860806" y="73787"/>
                    <a:pt x="860806" y="164719"/>
                  </a:cubicBezTo>
                  <a:lnTo>
                    <a:pt x="854456" y="164719"/>
                  </a:lnTo>
                  <a:lnTo>
                    <a:pt x="860806" y="164719"/>
                  </a:lnTo>
                  <a:lnTo>
                    <a:pt x="860806" y="696087"/>
                  </a:lnTo>
                  <a:lnTo>
                    <a:pt x="854456" y="696087"/>
                  </a:lnTo>
                  <a:lnTo>
                    <a:pt x="860806" y="696087"/>
                  </a:lnTo>
                  <a:cubicBezTo>
                    <a:pt x="860806" y="787019"/>
                    <a:pt x="787019" y="860806"/>
                    <a:pt x="696087" y="860806"/>
                  </a:cubicBezTo>
                  <a:lnTo>
                    <a:pt x="696087" y="854456"/>
                  </a:lnTo>
                  <a:lnTo>
                    <a:pt x="696087" y="860806"/>
                  </a:lnTo>
                  <a:lnTo>
                    <a:pt x="164719" y="860806"/>
                  </a:lnTo>
                  <a:lnTo>
                    <a:pt x="164719" y="854456"/>
                  </a:lnTo>
                  <a:lnTo>
                    <a:pt x="164719" y="860806"/>
                  </a:lnTo>
                  <a:cubicBezTo>
                    <a:pt x="73787" y="860806"/>
                    <a:pt x="0" y="787146"/>
                    <a:pt x="0" y="696087"/>
                  </a:cubicBezTo>
                  <a:lnTo>
                    <a:pt x="0" y="164719"/>
                  </a:lnTo>
                  <a:lnTo>
                    <a:pt x="6350" y="164719"/>
                  </a:lnTo>
                  <a:lnTo>
                    <a:pt x="0" y="164719"/>
                  </a:lnTo>
                  <a:moveTo>
                    <a:pt x="12700" y="164719"/>
                  </a:moveTo>
                  <a:lnTo>
                    <a:pt x="12700" y="696087"/>
                  </a:lnTo>
                  <a:lnTo>
                    <a:pt x="6350" y="696087"/>
                  </a:lnTo>
                  <a:lnTo>
                    <a:pt x="12700" y="696087"/>
                  </a:lnTo>
                  <a:cubicBezTo>
                    <a:pt x="12700" y="780034"/>
                    <a:pt x="80772" y="848106"/>
                    <a:pt x="164719" y="848106"/>
                  </a:cubicBezTo>
                  <a:lnTo>
                    <a:pt x="696087" y="848106"/>
                  </a:lnTo>
                  <a:cubicBezTo>
                    <a:pt x="780034" y="848106"/>
                    <a:pt x="848106" y="780034"/>
                    <a:pt x="848106" y="696087"/>
                  </a:cubicBezTo>
                  <a:lnTo>
                    <a:pt x="848106" y="164719"/>
                  </a:lnTo>
                  <a:cubicBezTo>
                    <a:pt x="848106" y="80772"/>
                    <a:pt x="780034" y="12700"/>
                    <a:pt x="696087" y="12700"/>
                  </a:cubicBezTo>
                  <a:lnTo>
                    <a:pt x="164719" y="12700"/>
                  </a:lnTo>
                  <a:lnTo>
                    <a:pt x="164719" y="6350"/>
                  </a:lnTo>
                  <a:lnTo>
                    <a:pt x="164719" y="12700"/>
                  </a:lnTo>
                  <a:cubicBezTo>
                    <a:pt x="80772" y="12700"/>
                    <a:pt x="12700" y="80772"/>
                    <a:pt x="12700" y="164719"/>
                  </a:cubicBezTo>
                  <a:close/>
                </a:path>
              </a:pathLst>
            </a:custGeom>
            <a:solidFill>
              <a:srgbClr val="CECEC9"/>
            </a:solidFill>
          </p:spPr>
        </p:sp>
      </p:grpSp>
      <p:grpSp>
        <p:nvGrpSpPr>
          <p:cNvPr name="Group 20" id="20"/>
          <p:cNvGrpSpPr/>
          <p:nvPr/>
        </p:nvGrpSpPr>
        <p:grpSpPr>
          <a:xfrm rot="0">
            <a:off x="13633102" y="2403128"/>
            <a:ext cx="3665487" cy="883444"/>
            <a:chOff x="0" y="0"/>
            <a:chExt cx="4887317" cy="1177925"/>
          </a:xfrm>
        </p:grpSpPr>
        <p:sp>
          <p:nvSpPr>
            <p:cNvPr name="Freeform 21" id="21"/>
            <p:cNvSpPr/>
            <p:nvPr/>
          </p:nvSpPr>
          <p:spPr>
            <a:xfrm flipH="false" flipV="false" rot="0">
              <a:off x="0" y="0"/>
              <a:ext cx="4887317" cy="1177925"/>
            </a:xfrm>
            <a:custGeom>
              <a:avLst/>
              <a:gdLst/>
              <a:ahLst/>
              <a:cxnLst/>
              <a:rect r="r" b="b" t="t" l="l"/>
              <a:pathLst>
                <a:path h="1177925" w="4887317">
                  <a:moveTo>
                    <a:pt x="0" y="0"/>
                  </a:moveTo>
                  <a:lnTo>
                    <a:pt x="4887317" y="0"/>
                  </a:lnTo>
                  <a:lnTo>
                    <a:pt x="4887317" y="1177925"/>
                  </a:lnTo>
                  <a:lnTo>
                    <a:pt x="0" y="1177925"/>
                  </a:lnTo>
                  <a:close/>
                </a:path>
              </a:pathLst>
            </a:custGeom>
            <a:solidFill>
              <a:srgbClr val="000000">
                <a:alpha val="0"/>
              </a:srgbClr>
            </a:solidFill>
          </p:spPr>
        </p:sp>
        <p:sp>
          <p:nvSpPr>
            <p:cNvPr name="TextBox 22" id="22"/>
            <p:cNvSpPr txBox="true"/>
            <p:nvPr/>
          </p:nvSpPr>
          <p:spPr>
            <a:xfrm>
              <a:off x="0" y="-38100"/>
              <a:ext cx="4887317" cy="1216025"/>
            </a:xfrm>
            <a:prstGeom prst="rect">
              <a:avLst/>
            </a:prstGeom>
          </p:spPr>
          <p:txBody>
            <a:bodyPr anchor="t" rtlCol="false" tIns="0" lIns="0" bIns="0" rIns="0"/>
            <a:lstStyle/>
            <a:p>
              <a:pPr algn="l">
                <a:lnSpc>
                  <a:spcPts val="3437"/>
                </a:lnSpc>
              </a:pPr>
              <a:r>
                <a:rPr lang="en-US" sz="2750">
                  <a:solidFill>
                    <a:srgbClr val="272525"/>
                  </a:solidFill>
                  <a:latin typeface="Arimo"/>
                  <a:ea typeface="Arimo"/>
                  <a:cs typeface="Arimo"/>
                  <a:sym typeface="Arimo"/>
                </a:rPr>
                <a:t>View Detailed Information</a:t>
              </a:r>
            </a:p>
          </p:txBody>
        </p:sp>
      </p:grpSp>
      <p:grpSp>
        <p:nvGrpSpPr>
          <p:cNvPr name="Group 23" id="23"/>
          <p:cNvGrpSpPr/>
          <p:nvPr/>
        </p:nvGrpSpPr>
        <p:grpSpPr>
          <a:xfrm rot="0">
            <a:off x="13633102" y="3456086"/>
            <a:ext cx="3665487" cy="2262188"/>
            <a:chOff x="0" y="0"/>
            <a:chExt cx="4887317" cy="3016250"/>
          </a:xfrm>
        </p:grpSpPr>
        <p:sp>
          <p:nvSpPr>
            <p:cNvPr name="Freeform 24" id="24"/>
            <p:cNvSpPr/>
            <p:nvPr/>
          </p:nvSpPr>
          <p:spPr>
            <a:xfrm flipH="false" flipV="false" rot="0">
              <a:off x="0" y="0"/>
              <a:ext cx="4887317" cy="3016250"/>
            </a:xfrm>
            <a:custGeom>
              <a:avLst/>
              <a:gdLst/>
              <a:ahLst/>
              <a:cxnLst/>
              <a:rect r="r" b="b" t="t" l="l"/>
              <a:pathLst>
                <a:path h="3016250" w="4887317">
                  <a:moveTo>
                    <a:pt x="0" y="0"/>
                  </a:moveTo>
                  <a:lnTo>
                    <a:pt x="4887317" y="0"/>
                  </a:lnTo>
                  <a:lnTo>
                    <a:pt x="4887317" y="3016250"/>
                  </a:lnTo>
                  <a:lnTo>
                    <a:pt x="0" y="3016250"/>
                  </a:lnTo>
                  <a:close/>
                </a:path>
              </a:pathLst>
            </a:custGeom>
            <a:solidFill>
              <a:srgbClr val="000000">
                <a:alpha val="0"/>
              </a:srgbClr>
            </a:solidFill>
          </p:spPr>
        </p:sp>
        <p:sp>
          <p:nvSpPr>
            <p:cNvPr name="TextBox 25" id="25"/>
            <p:cNvSpPr txBox="true"/>
            <p:nvPr/>
          </p:nvSpPr>
          <p:spPr>
            <a:xfrm>
              <a:off x="0" y="-95250"/>
              <a:ext cx="4887317" cy="3111500"/>
            </a:xfrm>
            <a:prstGeom prst="rect">
              <a:avLst/>
            </a:prstGeom>
          </p:spPr>
          <p:txBody>
            <a:bodyPr anchor="t" rtlCol="false" tIns="0" lIns="0" bIns="0" rIns="0"/>
            <a:lstStyle/>
            <a:p>
              <a:pPr algn="l">
                <a:lnSpc>
                  <a:spcPts val="3500"/>
                </a:lnSpc>
              </a:pPr>
              <a:r>
                <a:rPr lang="en-US" sz="2187">
                  <a:solidFill>
                    <a:srgbClr val="272525"/>
                  </a:solidFill>
                  <a:latin typeface="Lato"/>
                  <a:ea typeface="Lato"/>
                  <a:cs typeface="Lato"/>
                  <a:sym typeface="Lato"/>
                </a:rPr>
                <a:t>Access in-depth information, including size, mass, orbital characteristics, and historical significance, for each celestial body.</a:t>
              </a:r>
            </a:p>
          </p:txBody>
        </p:sp>
      </p:grpSp>
      <p:grpSp>
        <p:nvGrpSpPr>
          <p:cNvPr name="Group 26" id="26"/>
          <p:cNvGrpSpPr/>
          <p:nvPr/>
        </p:nvGrpSpPr>
        <p:grpSpPr>
          <a:xfrm rot="0">
            <a:off x="7842796" y="6314182"/>
            <a:ext cx="645616" cy="645616"/>
            <a:chOff x="0" y="0"/>
            <a:chExt cx="860822" cy="860822"/>
          </a:xfrm>
        </p:grpSpPr>
        <p:sp>
          <p:nvSpPr>
            <p:cNvPr name="Freeform 27" id="27"/>
            <p:cNvSpPr/>
            <p:nvPr/>
          </p:nvSpPr>
          <p:spPr>
            <a:xfrm flipH="false" flipV="false" rot="0">
              <a:off x="6350" y="6350"/>
              <a:ext cx="848106" cy="848106"/>
            </a:xfrm>
            <a:custGeom>
              <a:avLst/>
              <a:gdLst/>
              <a:ahLst/>
              <a:cxnLst/>
              <a:rect r="r" b="b" t="t" l="l"/>
              <a:pathLst>
                <a:path h="848106" w="848106">
                  <a:moveTo>
                    <a:pt x="0" y="158369"/>
                  </a:moveTo>
                  <a:cubicBezTo>
                    <a:pt x="0" y="70866"/>
                    <a:pt x="70866" y="0"/>
                    <a:pt x="158369" y="0"/>
                  </a:cubicBezTo>
                  <a:lnTo>
                    <a:pt x="689737" y="0"/>
                  </a:lnTo>
                  <a:cubicBezTo>
                    <a:pt x="777240" y="0"/>
                    <a:pt x="848106" y="70866"/>
                    <a:pt x="848106" y="158369"/>
                  </a:cubicBezTo>
                  <a:lnTo>
                    <a:pt x="848106" y="689737"/>
                  </a:lnTo>
                  <a:cubicBezTo>
                    <a:pt x="848106" y="777240"/>
                    <a:pt x="777240" y="848106"/>
                    <a:pt x="689737" y="848106"/>
                  </a:cubicBezTo>
                  <a:lnTo>
                    <a:pt x="158369" y="848106"/>
                  </a:lnTo>
                  <a:cubicBezTo>
                    <a:pt x="70866" y="848106"/>
                    <a:pt x="0" y="777240"/>
                    <a:pt x="0" y="689737"/>
                  </a:cubicBezTo>
                  <a:close/>
                </a:path>
              </a:pathLst>
            </a:custGeom>
            <a:solidFill>
              <a:srgbClr val="E8E8E3"/>
            </a:solidFill>
          </p:spPr>
        </p:sp>
        <p:sp>
          <p:nvSpPr>
            <p:cNvPr name="Freeform 28" id="28"/>
            <p:cNvSpPr/>
            <p:nvPr/>
          </p:nvSpPr>
          <p:spPr>
            <a:xfrm flipH="false" flipV="false" rot="0">
              <a:off x="0" y="0"/>
              <a:ext cx="860806" cy="860806"/>
            </a:xfrm>
            <a:custGeom>
              <a:avLst/>
              <a:gdLst/>
              <a:ahLst/>
              <a:cxnLst/>
              <a:rect r="r" b="b" t="t" l="l"/>
              <a:pathLst>
                <a:path h="860806" w="860806">
                  <a:moveTo>
                    <a:pt x="0" y="164719"/>
                  </a:moveTo>
                  <a:cubicBezTo>
                    <a:pt x="0" y="73787"/>
                    <a:pt x="73787" y="0"/>
                    <a:pt x="164719" y="0"/>
                  </a:cubicBezTo>
                  <a:lnTo>
                    <a:pt x="696087" y="0"/>
                  </a:lnTo>
                  <a:lnTo>
                    <a:pt x="696087" y="6350"/>
                  </a:lnTo>
                  <a:lnTo>
                    <a:pt x="696087" y="0"/>
                  </a:lnTo>
                  <a:lnTo>
                    <a:pt x="696087" y="6350"/>
                  </a:lnTo>
                  <a:lnTo>
                    <a:pt x="696087" y="0"/>
                  </a:lnTo>
                  <a:cubicBezTo>
                    <a:pt x="787019" y="0"/>
                    <a:pt x="860806" y="73787"/>
                    <a:pt x="860806" y="164719"/>
                  </a:cubicBezTo>
                  <a:lnTo>
                    <a:pt x="854456" y="164719"/>
                  </a:lnTo>
                  <a:lnTo>
                    <a:pt x="860806" y="164719"/>
                  </a:lnTo>
                  <a:lnTo>
                    <a:pt x="860806" y="696087"/>
                  </a:lnTo>
                  <a:lnTo>
                    <a:pt x="854456" y="696087"/>
                  </a:lnTo>
                  <a:lnTo>
                    <a:pt x="860806" y="696087"/>
                  </a:lnTo>
                  <a:cubicBezTo>
                    <a:pt x="860806" y="787019"/>
                    <a:pt x="787019" y="860806"/>
                    <a:pt x="696087" y="860806"/>
                  </a:cubicBezTo>
                  <a:lnTo>
                    <a:pt x="696087" y="854456"/>
                  </a:lnTo>
                  <a:lnTo>
                    <a:pt x="696087" y="860806"/>
                  </a:lnTo>
                  <a:lnTo>
                    <a:pt x="164719" y="860806"/>
                  </a:lnTo>
                  <a:lnTo>
                    <a:pt x="164719" y="854456"/>
                  </a:lnTo>
                  <a:lnTo>
                    <a:pt x="164719" y="860806"/>
                  </a:lnTo>
                  <a:cubicBezTo>
                    <a:pt x="73787" y="860806"/>
                    <a:pt x="0" y="787146"/>
                    <a:pt x="0" y="696087"/>
                  </a:cubicBezTo>
                  <a:lnTo>
                    <a:pt x="0" y="164719"/>
                  </a:lnTo>
                  <a:lnTo>
                    <a:pt x="6350" y="164719"/>
                  </a:lnTo>
                  <a:lnTo>
                    <a:pt x="0" y="164719"/>
                  </a:lnTo>
                  <a:moveTo>
                    <a:pt x="12700" y="164719"/>
                  </a:moveTo>
                  <a:lnTo>
                    <a:pt x="12700" y="696087"/>
                  </a:lnTo>
                  <a:lnTo>
                    <a:pt x="6350" y="696087"/>
                  </a:lnTo>
                  <a:lnTo>
                    <a:pt x="12700" y="696087"/>
                  </a:lnTo>
                  <a:cubicBezTo>
                    <a:pt x="12700" y="780034"/>
                    <a:pt x="80772" y="848106"/>
                    <a:pt x="164719" y="848106"/>
                  </a:cubicBezTo>
                  <a:lnTo>
                    <a:pt x="696087" y="848106"/>
                  </a:lnTo>
                  <a:cubicBezTo>
                    <a:pt x="780034" y="848106"/>
                    <a:pt x="848106" y="780034"/>
                    <a:pt x="848106" y="696087"/>
                  </a:cubicBezTo>
                  <a:lnTo>
                    <a:pt x="848106" y="164719"/>
                  </a:lnTo>
                  <a:cubicBezTo>
                    <a:pt x="848106" y="80772"/>
                    <a:pt x="780034" y="12700"/>
                    <a:pt x="696087" y="12700"/>
                  </a:cubicBezTo>
                  <a:lnTo>
                    <a:pt x="164719" y="12700"/>
                  </a:lnTo>
                  <a:lnTo>
                    <a:pt x="164719" y="6350"/>
                  </a:lnTo>
                  <a:lnTo>
                    <a:pt x="164719" y="12700"/>
                  </a:lnTo>
                  <a:cubicBezTo>
                    <a:pt x="80772" y="12700"/>
                    <a:pt x="12700" y="80772"/>
                    <a:pt x="12700" y="164719"/>
                  </a:cubicBezTo>
                  <a:close/>
                </a:path>
              </a:pathLst>
            </a:custGeom>
            <a:solidFill>
              <a:srgbClr val="CECEC9"/>
            </a:solidFill>
          </p:spPr>
        </p:sp>
      </p:grpSp>
      <p:grpSp>
        <p:nvGrpSpPr>
          <p:cNvPr name="Group 29" id="29"/>
          <p:cNvGrpSpPr/>
          <p:nvPr/>
        </p:nvGrpSpPr>
        <p:grpSpPr>
          <a:xfrm rot="0">
            <a:off x="8766274" y="6318945"/>
            <a:ext cx="4266158" cy="554239"/>
            <a:chOff x="0" y="0"/>
            <a:chExt cx="5688211" cy="738985"/>
          </a:xfrm>
        </p:grpSpPr>
        <p:sp>
          <p:nvSpPr>
            <p:cNvPr name="Freeform 30" id="30"/>
            <p:cNvSpPr/>
            <p:nvPr/>
          </p:nvSpPr>
          <p:spPr>
            <a:xfrm flipH="false" flipV="false" rot="0">
              <a:off x="0" y="0"/>
              <a:ext cx="5688211" cy="738985"/>
            </a:xfrm>
            <a:custGeom>
              <a:avLst/>
              <a:gdLst/>
              <a:ahLst/>
              <a:cxnLst/>
              <a:rect r="r" b="b" t="t" l="l"/>
              <a:pathLst>
                <a:path h="738985" w="5688211">
                  <a:moveTo>
                    <a:pt x="0" y="0"/>
                  </a:moveTo>
                  <a:lnTo>
                    <a:pt x="5688211" y="0"/>
                  </a:lnTo>
                  <a:lnTo>
                    <a:pt x="5688211" y="738985"/>
                  </a:lnTo>
                  <a:lnTo>
                    <a:pt x="0" y="738985"/>
                  </a:lnTo>
                  <a:close/>
                </a:path>
              </a:pathLst>
            </a:custGeom>
            <a:solidFill>
              <a:srgbClr val="000000">
                <a:alpha val="0"/>
              </a:srgbClr>
            </a:solidFill>
          </p:spPr>
        </p:sp>
        <p:sp>
          <p:nvSpPr>
            <p:cNvPr name="TextBox 31" id="31"/>
            <p:cNvSpPr txBox="true"/>
            <p:nvPr/>
          </p:nvSpPr>
          <p:spPr>
            <a:xfrm>
              <a:off x="0" y="-38100"/>
              <a:ext cx="5688211" cy="777085"/>
            </a:xfrm>
            <a:prstGeom prst="rect">
              <a:avLst/>
            </a:prstGeom>
          </p:spPr>
          <p:txBody>
            <a:bodyPr anchor="t" rtlCol="false" tIns="0" lIns="0" bIns="0" rIns="0"/>
            <a:lstStyle/>
            <a:p>
              <a:pPr algn="l">
                <a:lnSpc>
                  <a:spcPts val="3437"/>
                </a:lnSpc>
              </a:pPr>
              <a:r>
                <a:rPr lang="en-US" sz="2750">
                  <a:solidFill>
                    <a:srgbClr val="272525"/>
                  </a:solidFill>
                  <a:latin typeface="Arimo"/>
                  <a:ea typeface="Arimo"/>
                  <a:cs typeface="Arimo"/>
                  <a:sym typeface="Arimo"/>
                </a:rPr>
                <a:t>Learn Interesting Facts</a:t>
              </a:r>
            </a:p>
          </p:txBody>
        </p:sp>
      </p:grpSp>
      <p:grpSp>
        <p:nvGrpSpPr>
          <p:cNvPr name="Group 32" id="32"/>
          <p:cNvGrpSpPr/>
          <p:nvPr/>
        </p:nvGrpSpPr>
        <p:grpSpPr>
          <a:xfrm rot="0">
            <a:off x="8766274" y="6930181"/>
            <a:ext cx="8532167" cy="904875"/>
            <a:chOff x="0" y="0"/>
            <a:chExt cx="11376223" cy="1206500"/>
          </a:xfrm>
        </p:grpSpPr>
        <p:sp>
          <p:nvSpPr>
            <p:cNvPr name="Freeform 33" id="33"/>
            <p:cNvSpPr/>
            <p:nvPr/>
          </p:nvSpPr>
          <p:spPr>
            <a:xfrm flipH="false" flipV="false" rot="0">
              <a:off x="0" y="0"/>
              <a:ext cx="11376223" cy="1206500"/>
            </a:xfrm>
            <a:custGeom>
              <a:avLst/>
              <a:gdLst/>
              <a:ahLst/>
              <a:cxnLst/>
              <a:rect r="r" b="b" t="t" l="l"/>
              <a:pathLst>
                <a:path h="1206500" w="11376223">
                  <a:moveTo>
                    <a:pt x="0" y="0"/>
                  </a:moveTo>
                  <a:lnTo>
                    <a:pt x="11376223" y="0"/>
                  </a:lnTo>
                  <a:lnTo>
                    <a:pt x="11376223" y="1206500"/>
                  </a:lnTo>
                  <a:lnTo>
                    <a:pt x="0" y="1206500"/>
                  </a:lnTo>
                  <a:close/>
                </a:path>
              </a:pathLst>
            </a:custGeom>
            <a:solidFill>
              <a:srgbClr val="000000">
                <a:alpha val="0"/>
              </a:srgbClr>
            </a:solidFill>
          </p:spPr>
        </p:sp>
        <p:sp>
          <p:nvSpPr>
            <p:cNvPr name="TextBox 34" id="34"/>
            <p:cNvSpPr txBox="true"/>
            <p:nvPr/>
          </p:nvSpPr>
          <p:spPr>
            <a:xfrm>
              <a:off x="0" y="-95250"/>
              <a:ext cx="11376223" cy="1301750"/>
            </a:xfrm>
            <a:prstGeom prst="rect">
              <a:avLst/>
            </a:prstGeom>
          </p:spPr>
          <p:txBody>
            <a:bodyPr anchor="t" rtlCol="false" tIns="0" lIns="0" bIns="0" rIns="0"/>
            <a:lstStyle/>
            <a:p>
              <a:pPr algn="l">
                <a:lnSpc>
                  <a:spcPts val="3500"/>
                </a:lnSpc>
              </a:pPr>
              <a:r>
                <a:rPr lang="en-US" sz="2187">
                  <a:solidFill>
                    <a:srgbClr val="272525"/>
                  </a:solidFill>
                  <a:latin typeface="Lato"/>
                  <a:ea typeface="Lato"/>
                  <a:cs typeface="Lato"/>
                  <a:sym typeface="Lato"/>
                </a:rPr>
                <a:t>Discover intriguing facts and trivia about the universe, expanding your knowledge of astronomy and space exploration.</a:t>
              </a:r>
            </a:p>
          </p:txBody>
        </p:sp>
      </p:grpSp>
      <p:sp>
        <p:nvSpPr>
          <p:cNvPr name="Freeform 35" id="35"/>
          <p:cNvSpPr/>
          <p:nvPr/>
        </p:nvSpPr>
        <p:spPr>
          <a:xfrm flipH="false" flipV="false" rot="0">
            <a:off x="0" y="0"/>
            <a:ext cx="7175182" cy="10287000"/>
          </a:xfrm>
          <a:custGeom>
            <a:avLst/>
            <a:gdLst/>
            <a:ahLst/>
            <a:cxnLst/>
            <a:rect r="r" b="b" t="t" l="l"/>
            <a:pathLst>
              <a:path h="10287000" w="7175182">
                <a:moveTo>
                  <a:pt x="0" y="0"/>
                </a:moveTo>
                <a:lnTo>
                  <a:pt x="7175182" y="0"/>
                </a:lnTo>
                <a:lnTo>
                  <a:pt x="7175182" y="10287000"/>
                </a:lnTo>
                <a:lnTo>
                  <a:pt x="0" y="10287000"/>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Freeform 5" id="5" descr="preencoded.png"/>
          <p:cNvSpPr/>
          <p:nvPr/>
        </p:nvSpPr>
        <p:spPr>
          <a:xfrm flipH="false" flipV="false" rot="0">
            <a:off x="0" y="0"/>
            <a:ext cx="18288000" cy="2835325"/>
          </a:xfrm>
          <a:custGeom>
            <a:avLst/>
            <a:gdLst/>
            <a:ahLst/>
            <a:cxnLst/>
            <a:rect r="r" b="b" t="t" l="l"/>
            <a:pathLst>
              <a:path h="2835325" w="18288000">
                <a:moveTo>
                  <a:pt x="0" y="0"/>
                </a:moveTo>
                <a:lnTo>
                  <a:pt x="18288000" y="0"/>
                </a:lnTo>
                <a:lnTo>
                  <a:pt x="18288000" y="2835325"/>
                </a:lnTo>
                <a:lnTo>
                  <a:pt x="0" y="2835325"/>
                </a:lnTo>
                <a:lnTo>
                  <a:pt x="0" y="0"/>
                </a:lnTo>
                <a:close/>
              </a:path>
            </a:pathLst>
          </a:custGeom>
          <a:blipFill>
            <a:blip r:embed="rId4"/>
            <a:stretch>
              <a:fillRect l="0" t="-55" r="0" b="-55"/>
            </a:stretch>
          </a:blipFill>
        </p:spPr>
      </p:sp>
      <p:grpSp>
        <p:nvGrpSpPr>
          <p:cNvPr name="Group 6" id="6"/>
          <p:cNvGrpSpPr/>
          <p:nvPr/>
        </p:nvGrpSpPr>
        <p:grpSpPr>
          <a:xfrm rot="0">
            <a:off x="992238" y="3744069"/>
            <a:ext cx="5670649" cy="708720"/>
            <a:chOff x="0" y="0"/>
            <a:chExt cx="7560865" cy="944960"/>
          </a:xfrm>
        </p:grpSpPr>
        <p:sp>
          <p:nvSpPr>
            <p:cNvPr name="Freeform 7" id="7"/>
            <p:cNvSpPr/>
            <p:nvPr/>
          </p:nvSpPr>
          <p:spPr>
            <a:xfrm flipH="false" flipV="false" rot="0">
              <a:off x="0" y="0"/>
              <a:ext cx="7560865" cy="944960"/>
            </a:xfrm>
            <a:custGeom>
              <a:avLst/>
              <a:gdLst/>
              <a:ahLst/>
              <a:cxnLst/>
              <a:rect r="r" b="b" t="t" l="l"/>
              <a:pathLst>
                <a:path h="944960" w="7560865">
                  <a:moveTo>
                    <a:pt x="0" y="0"/>
                  </a:moveTo>
                  <a:lnTo>
                    <a:pt x="7560865" y="0"/>
                  </a:lnTo>
                  <a:lnTo>
                    <a:pt x="7560865" y="944960"/>
                  </a:lnTo>
                  <a:lnTo>
                    <a:pt x="0" y="944960"/>
                  </a:lnTo>
                  <a:close/>
                </a:path>
              </a:pathLst>
            </a:custGeom>
            <a:solidFill>
              <a:srgbClr val="000000">
                <a:alpha val="0"/>
              </a:srgbClr>
            </a:solidFill>
          </p:spPr>
        </p:sp>
        <p:sp>
          <p:nvSpPr>
            <p:cNvPr name="TextBox 8" id="8"/>
            <p:cNvSpPr txBox="true"/>
            <p:nvPr/>
          </p:nvSpPr>
          <p:spPr>
            <a:xfrm>
              <a:off x="0" y="-38100"/>
              <a:ext cx="7560865" cy="983060"/>
            </a:xfrm>
            <a:prstGeom prst="rect">
              <a:avLst/>
            </a:prstGeom>
          </p:spPr>
          <p:txBody>
            <a:bodyPr anchor="t" rtlCol="false" tIns="0" lIns="0" bIns="0" rIns="0"/>
            <a:lstStyle/>
            <a:p>
              <a:pPr algn="l">
                <a:lnSpc>
                  <a:spcPts val="5562"/>
                </a:lnSpc>
              </a:pPr>
              <a:r>
                <a:rPr lang="en-US" sz="4437">
                  <a:solidFill>
                    <a:srgbClr val="312F2B"/>
                  </a:solidFill>
                  <a:latin typeface="Arimo"/>
                  <a:ea typeface="Arimo"/>
                  <a:cs typeface="Arimo"/>
                  <a:sym typeface="Arimo"/>
                </a:rPr>
                <a:t>Project Requirements</a:t>
              </a:r>
            </a:p>
          </p:txBody>
        </p:sp>
      </p:grpSp>
      <p:grpSp>
        <p:nvGrpSpPr>
          <p:cNvPr name="Group 9" id="9"/>
          <p:cNvGrpSpPr/>
          <p:nvPr/>
        </p:nvGrpSpPr>
        <p:grpSpPr>
          <a:xfrm rot="0">
            <a:off x="987475" y="4788247"/>
            <a:ext cx="8047881" cy="1698277"/>
            <a:chOff x="0" y="0"/>
            <a:chExt cx="10730508" cy="2264370"/>
          </a:xfrm>
        </p:grpSpPr>
        <p:sp>
          <p:nvSpPr>
            <p:cNvPr name="Freeform 10" id="10"/>
            <p:cNvSpPr/>
            <p:nvPr/>
          </p:nvSpPr>
          <p:spPr>
            <a:xfrm flipH="false" flipV="false" rot="0">
              <a:off x="6350" y="6350"/>
              <a:ext cx="10717911" cy="2251710"/>
            </a:xfrm>
            <a:custGeom>
              <a:avLst/>
              <a:gdLst/>
              <a:ahLst/>
              <a:cxnLst/>
              <a:rect r="r" b="b" t="t" l="l"/>
              <a:pathLst>
                <a:path h="2251710" w="10717911">
                  <a:moveTo>
                    <a:pt x="0" y="127000"/>
                  </a:moveTo>
                  <a:cubicBezTo>
                    <a:pt x="0" y="56896"/>
                    <a:pt x="57150" y="0"/>
                    <a:pt x="127635" y="0"/>
                  </a:cubicBezTo>
                  <a:lnTo>
                    <a:pt x="10590276" y="0"/>
                  </a:lnTo>
                  <a:cubicBezTo>
                    <a:pt x="10660761" y="0"/>
                    <a:pt x="10717911" y="56896"/>
                    <a:pt x="10717911" y="127000"/>
                  </a:cubicBezTo>
                  <a:lnTo>
                    <a:pt x="10717911" y="2124710"/>
                  </a:lnTo>
                  <a:cubicBezTo>
                    <a:pt x="10717911" y="2194814"/>
                    <a:pt x="10660761" y="2251710"/>
                    <a:pt x="10590276" y="2251710"/>
                  </a:cubicBezTo>
                  <a:lnTo>
                    <a:pt x="127635" y="2251710"/>
                  </a:lnTo>
                  <a:cubicBezTo>
                    <a:pt x="57150" y="2251710"/>
                    <a:pt x="0" y="2194814"/>
                    <a:pt x="0" y="2124710"/>
                  </a:cubicBezTo>
                  <a:close/>
                </a:path>
              </a:pathLst>
            </a:custGeom>
            <a:solidFill>
              <a:srgbClr val="E8E8E3"/>
            </a:solidFill>
          </p:spPr>
        </p:sp>
        <p:sp>
          <p:nvSpPr>
            <p:cNvPr name="Freeform 11" id="11"/>
            <p:cNvSpPr/>
            <p:nvPr/>
          </p:nvSpPr>
          <p:spPr>
            <a:xfrm flipH="false" flipV="false" rot="0">
              <a:off x="0" y="0"/>
              <a:ext cx="10730611" cy="2264410"/>
            </a:xfrm>
            <a:custGeom>
              <a:avLst/>
              <a:gdLst/>
              <a:ahLst/>
              <a:cxnLst/>
              <a:rect r="r" b="b" t="t" l="l"/>
              <a:pathLst>
                <a:path h="2264410" w="10730611">
                  <a:moveTo>
                    <a:pt x="0" y="133350"/>
                  </a:moveTo>
                  <a:cubicBezTo>
                    <a:pt x="0" y="59690"/>
                    <a:pt x="59944" y="0"/>
                    <a:pt x="133985" y="0"/>
                  </a:cubicBezTo>
                  <a:lnTo>
                    <a:pt x="10596626" y="0"/>
                  </a:lnTo>
                  <a:lnTo>
                    <a:pt x="10596626" y="6350"/>
                  </a:lnTo>
                  <a:lnTo>
                    <a:pt x="10596626" y="0"/>
                  </a:lnTo>
                  <a:cubicBezTo>
                    <a:pt x="10670540" y="0"/>
                    <a:pt x="10730611" y="59690"/>
                    <a:pt x="10730611" y="133350"/>
                  </a:cubicBezTo>
                  <a:lnTo>
                    <a:pt x="10724261" y="133350"/>
                  </a:lnTo>
                  <a:lnTo>
                    <a:pt x="10730611" y="133350"/>
                  </a:lnTo>
                  <a:lnTo>
                    <a:pt x="10730611" y="2131060"/>
                  </a:lnTo>
                  <a:lnTo>
                    <a:pt x="10724261" y="2131060"/>
                  </a:lnTo>
                  <a:lnTo>
                    <a:pt x="10730611" y="2131060"/>
                  </a:lnTo>
                  <a:cubicBezTo>
                    <a:pt x="10730611" y="2204720"/>
                    <a:pt x="10670667" y="2264410"/>
                    <a:pt x="10596626" y="2264410"/>
                  </a:cubicBezTo>
                  <a:lnTo>
                    <a:pt x="10596626" y="2258060"/>
                  </a:lnTo>
                  <a:lnTo>
                    <a:pt x="10596626" y="2264410"/>
                  </a:lnTo>
                  <a:lnTo>
                    <a:pt x="133985" y="2264410"/>
                  </a:lnTo>
                  <a:lnTo>
                    <a:pt x="133985" y="2258060"/>
                  </a:lnTo>
                  <a:lnTo>
                    <a:pt x="133985" y="2264410"/>
                  </a:lnTo>
                  <a:cubicBezTo>
                    <a:pt x="59944" y="2264410"/>
                    <a:pt x="0" y="2204720"/>
                    <a:pt x="0" y="2131060"/>
                  </a:cubicBezTo>
                  <a:lnTo>
                    <a:pt x="0" y="133350"/>
                  </a:lnTo>
                  <a:lnTo>
                    <a:pt x="6350" y="133350"/>
                  </a:lnTo>
                  <a:lnTo>
                    <a:pt x="0" y="133350"/>
                  </a:lnTo>
                  <a:moveTo>
                    <a:pt x="12700" y="133350"/>
                  </a:moveTo>
                  <a:lnTo>
                    <a:pt x="12700" y="2131060"/>
                  </a:lnTo>
                  <a:lnTo>
                    <a:pt x="6350" y="2131060"/>
                  </a:lnTo>
                  <a:lnTo>
                    <a:pt x="12700" y="2131060"/>
                  </a:lnTo>
                  <a:cubicBezTo>
                    <a:pt x="12700" y="2197735"/>
                    <a:pt x="66929" y="2251710"/>
                    <a:pt x="133985" y="2251710"/>
                  </a:cubicBezTo>
                  <a:lnTo>
                    <a:pt x="10596626" y="2251710"/>
                  </a:lnTo>
                  <a:cubicBezTo>
                    <a:pt x="10663555" y="2251710"/>
                    <a:pt x="10717911" y="2197608"/>
                    <a:pt x="10717911" y="2131060"/>
                  </a:cubicBezTo>
                  <a:lnTo>
                    <a:pt x="10717911" y="133350"/>
                  </a:lnTo>
                  <a:cubicBezTo>
                    <a:pt x="10717911" y="66675"/>
                    <a:pt x="10663682" y="12700"/>
                    <a:pt x="10596626" y="12700"/>
                  </a:cubicBezTo>
                  <a:lnTo>
                    <a:pt x="133985" y="12700"/>
                  </a:lnTo>
                  <a:lnTo>
                    <a:pt x="133985" y="6350"/>
                  </a:lnTo>
                  <a:lnTo>
                    <a:pt x="133985" y="12700"/>
                  </a:lnTo>
                  <a:cubicBezTo>
                    <a:pt x="66929" y="12700"/>
                    <a:pt x="12700" y="66802"/>
                    <a:pt x="12700" y="133350"/>
                  </a:cubicBezTo>
                  <a:close/>
                </a:path>
              </a:pathLst>
            </a:custGeom>
            <a:solidFill>
              <a:srgbClr val="CECEC9"/>
            </a:solidFill>
          </p:spPr>
        </p:sp>
      </p:grpSp>
      <p:grpSp>
        <p:nvGrpSpPr>
          <p:cNvPr name="Group 12" id="12"/>
          <p:cNvGrpSpPr/>
          <p:nvPr/>
        </p:nvGrpSpPr>
        <p:grpSpPr>
          <a:xfrm rot="0">
            <a:off x="1228576" y="5029349"/>
            <a:ext cx="2835325" cy="354360"/>
            <a:chOff x="0" y="0"/>
            <a:chExt cx="3780433" cy="472480"/>
          </a:xfrm>
        </p:grpSpPr>
        <p:sp>
          <p:nvSpPr>
            <p:cNvPr name="Freeform 13" id="13"/>
            <p:cNvSpPr/>
            <p:nvPr/>
          </p:nvSpPr>
          <p:spPr>
            <a:xfrm flipH="false" flipV="false" rot="0">
              <a:off x="0" y="0"/>
              <a:ext cx="3780433" cy="472480"/>
            </a:xfrm>
            <a:custGeom>
              <a:avLst/>
              <a:gdLst/>
              <a:ahLst/>
              <a:cxnLst/>
              <a:rect r="r" b="b" t="t" l="l"/>
              <a:pathLst>
                <a:path h="472480" w="3780433">
                  <a:moveTo>
                    <a:pt x="0" y="0"/>
                  </a:moveTo>
                  <a:lnTo>
                    <a:pt x="3780433" y="0"/>
                  </a:lnTo>
                  <a:lnTo>
                    <a:pt x="3780433" y="472480"/>
                  </a:lnTo>
                  <a:lnTo>
                    <a:pt x="0" y="472480"/>
                  </a:lnTo>
                  <a:close/>
                </a:path>
              </a:pathLst>
            </a:custGeom>
            <a:solidFill>
              <a:srgbClr val="000000">
                <a:alpha val="0"/>
              </a:srgbClr>
            </a:solidFill>
          </p:spPr>
        </p:sp>
        <p:sp>
          <p:nvSpPr>
            <p:cNvPr name="TextBox 14" id="14"/>
            <p:cNvSpPr txBox="true"/>
            <p:nvPr/>
          </p:nvSpPr>
          <p:spPr>
            <a:xfrm>
              <a:off x="0" y="-28575"/>
              <a:ext cx="3780433" cy="50105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Flutter Application</a:t>
              </a:r>
            </a:p>
          </p:txBody>
        </p:sp>
      </p:grpSp>
      <p:grpSp>
        <p:nvGrpSpPr>
          <p:cNvPr name="Group 15" id="15"/>
          <p:cNvGrpSpPr/>
          <p:nvPr/>
        </p:nvGrpSpPr>
        <p:grpSpPr>
          <a:xfrm rot="0">
            <a:off x="1228576" y="5519737"/>
            <a:ext cx="7565677" cy="725686"/>
            <a:chOff x="0" y="0"/>
            <a:chExt cx="10087570" cy="967582"/>
          </a:xfrm>
        </p:grpSpPr>
        <p:sp>
          <p:nvSpPr>
            <p:cNvPr name="Freeform 16" id="16"/>
            <p:cNvSpPr/>
            <p:nvPr/>
          </p:nvSpPr>
          <p:spPr>
            <a:xfrm flipH="false" flipV="false" rot="0">
              <a:off x="0" y="0"/>
              <a:ext cx="10087570" cy="967582"/>
            </a:xfrm>
            <a:custGeom>
              <a:avLst/>
              <a:gdLst/>
              <a:ahLst/>
              <a:cxnLst/>
              <a:rect r="r" b="b" t="t" l="l"/>
              <a:pathLst>
                <a:path h="967582" w="10087570">
                  <a:moveTo>
                    <a:pt x="0" y="0"/>
                  </a:moveTo>
                  <a:lnTo>
                    <a:pt x="10087570" y="0"/>
                  </a:lnTo>
                  <a:lnTo>
                    <a:pt x="10087570" y="967582"/>
                  </a:lnTo>
                  <a:lnTo>
                    <a:pt x="0" y="967582"/>
                  </a:lnTo>
                  <a:close/>
                </a:path>
              </a:pathLst>
            </a:custGeom>
            <a:solidFill>
              <a:srgbClr val="000000">
                <a:alpha val="0"/>
              </a:srgbClr>
            </a:solidFill>
          </p:spPr>
        </p:sp>
        <p:sp>
          <p:nvSpPr>
            <p:cNvPr name="TextBox 17" id="17"/>
            <p:cNvSpPr txBox="true"/>
            <p:nvPr/>
          </p:nvSpPr>
          <p:spPr>
            <a:xfrm>
              <a:off x="0" y="-76200"/>
              <a:ext cx="10087570" cy="1043782"/>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Develop a fully functional Flutter application, leveraging the framework's capabilities for cross-platform deployment.</a:t>
              </a:r>
            </a:p>
          </p:txBody>
        </p:sp>
      </p:grpSp>
      <p:grpSp>
        <p:nvGrpSpPr>
          <p:cNvPr name="Group 18" id="18"/>
          <p:cNvGrpSpPr/>
          <p:nvPr/>
        </p:nvGrpSpPr>
        <p:grpSpPr>
          <a:xfrm rot="0">
            <a:off x="9252645" y="4788247"/>
            <a:ext cx="8047881" cy="1698277"/>
            <a:chOff x="0" y="0"/>
            <a:chExt cx="10730508" cy="2264370"/>
          </a:xfrm>
        </p:grpSpPr>
        <p:sp>
          <p:nvSpPr>
            <p:cNvPr name="Freeform 19" id="19"/>
            <p:cNvSpPr/>
            <p:nvPr/>
          </p:nvSpPr>
          <p:spPr>
            <a:xfrm flipH="false" flipV="false" rot="0">
              <a:off x="6350" y="6350"/>
              <a:ext cx="10717911" cy="2251710"/>
            </a:xfrm>
            <a:custGeom>
              <a:avLst/>
              <a:gdLst/>
              <a:ahLst/>
              <a:cxnLst/>
              <a:rect r="r" b="b" t="t" l="l"/>
              <a:pathLst>
                <a:path h="2251710" w="10717911">
                  <a:moveTo>
                    <a:pt x="0" y="127000"/>
                  </a:moveTo>
                  <a:cubicBezTo>
                    <a:pt x="0" y="56896"/>
                    <a:pt x="57150" y="0"/>
                    <a:pt x="127635" y="0"/>
                  </a:cubicBezTo>
                  <a:lnTo>
                    <a:pt x="10590276" y="0"/>
                  </a:lnTo>
                  <a:cubicBezTo>
                    <a:pt x="10660761" y="0"/>
                    <a:pt x="10717911" y="56896"/>
                    <a:pt x="10717911" y="127000"/>
                  </a:cubicBezTo>
                  <a:lnTo>
                    <a:pt x="10717911" y="2124710"/>
                  </a:lnTo>
                  <a:cubicBezTo>
                    <a:pt x="10717911" y="2194814"/>
                    <a:pt x="10660761" y="2251710"/>
                    <a:pt x="10590276" y="2251710"/>
                  </a:cubicBezTo>
                  <a:lnTo>
                    <a:pt x="127635" y="2251710"/>
                  </a:lnTo>
                  <a:cubicBezTo>
                    <a:pt x="57150" y="2251710"/>
                    <a:pt x="0" y="2194814"/>
                    <a:pt x="0" y="2124710"/>
                  </a:cubicBezTo>
                  <a:close/>
                </a:path>
              </a:pathLst>
            </a:custGeom>
            <a:solidFill>
              <a:srgbClr val="E8E8E3"/>
            </a:solidFill>
          </p:spPr>
        </p:sp>
        <p:sp>
          <p:nvSpPr>
            <p:cNvPr name="Freeform 20" id="20"/>
            <p:cNvSpPr/>
            <p:nvPr/>
          </p:nvSpPr>
          <p:spPr>
            <a:xfrm flipH="false" flipV="false" rot="0">
              <a:off x="0" y="0"/>
              <a:ext cx="10730611" cy="2264410"/>
            </a:xfrm>
            <a:custGeom>
              <a:avLst/>
              <a:gdLst/>
              <a:ahLst/>
              <a:cxnLst/>
              <a:rect r="r" b="b" t="t" l="l"/>
              <a:pathLst>
                <a:path h="2264410" w="10730611">
                  <a:moveTo>
                    <a:pt x="0" y="133350"/>
                  </a:moveTo>
                  <a:cubicBezTo>
                    <a:pt x="0" y="59690"/>
                    <a:pt x="59944" y="0"/>
                    <a:pt x="133985" y="0"/>
                  </a:cubicBezTo>
                  <a:lnTo>
                    <a:pt x="10596626" y="0"/>
                  </a:lnTo>
                  <a:lnTo>
                    <a:pt x="10596626" y="6350"/>
                  </a:lnTo>
                  <a:lnTo>
                    <a:pt x="10596626" y="0"/>
                  </a:lnTo>
                  <a:cubicBezTo>
                    <a:pt x="10670540" y="0"/>
                    <a:pt x="10730611" y="59690"/>
                    <a:pt x="10730611" y="133350"/>
                  </a:cubicBezTo>
                  <a:lnTo>
                    <a:pt x="10724261" y="133350"/>
                  </a:lnTo>
                  <a:lnTo>
                    <a:pt x="10730611" y="133350"/>
                  </a:lnTo>
                  <a:lnTo>
                    <a:pt x="10730611" y="2131060"/>
                  </a:lnTo>
                  <a:lnTo>
                    <a:pt x="10724261" y="2131060"/>
                  </a:lnTo>
                  <a:lnTo>
                    <a:pt x="10730611" y="2131060"/>
                  </a:lnTo>
                  <a:cubicBezTo>
                    <a:pt x="10730611" y="2204720"/>
                    <a:pt x="10670667" y="2264410"/>
                    <a:pt x="10596626" y="2264410"/>
                  </a:cubicBezTo>
                  <a:lnTo>
                    <a:pt x="10596626" y="2258060"/>
                  </a:lnTo>
                  <a:lnTo>
                    <a:pt x="10596626" y="2264410"/>
                  </a:lnTo>
                  <a:lnTo>
                    <a:pt x="133985" y="2264410"/>
                  </a:lnTo>
                  <a:lnTo>
                    <a:pt x="133985" y="2258060"/>
                  </a:lnTo>
                  <a:lnTo>
                    <a:pt x="133985" y="2264410"/>
                  </a:lnTo>
                  <a:cubicBezTo>
                    <a:pt x="59944" y="2264410"/>
                    <a:pt x="0" y="2204720"/>
                    <a:pt x="0" y="2131060"/>
                  </a:cubicBezTo>
                  <a:lnTo>
                    <a:pt x="0" y="133350"/>
                  </a:lnTo>
                  <a:lnTo>
                    <a:pt x="6350" y="133350"/>
                  </a:lnTo>
                  <a:lnTo>
                    <a:pt x="0" y="133350"/>
                  </a:lnTo>
                  <a:moveTo>
                    <a:pt x="12700" y="133350"/>
                  </a:moveTo>
                  <a:lnTo>
                    <a:pt x="12700" y="2131060"/>
                  </a:lnTo>
                  <a:lnTo>
                    <a:pt x="6350" y="2131060"/>
                  </a:lnTo>
                  <a:lnTo>
                    <a:pt x="12700" y="2131060"/>
                  </a:lnTo>
                  <a:cubicBezTo>
                    <a:pt x="12700" y="2197735"/>
                    <a:pt x="66929" y="2251710"/>
                    <a:pt x="133985" y="2251710"/>
                  </a:cubicBezTo>
                  <a:lnTo>
                    <a:pt x="10596626" y="2251710"/>
                  </a:lnTo>
                  <a:cubicBezTo>
                    <a:pt x="10663555" y="2251710"/>
                    <a:pt x="10717911" y="2197608"/>
                    <a:pt x="10717911" y="2131060"/>
                  </a:cubicBezTo>
                  <a:lnTo>
                    <a:pt x="10717911" y="133350"/>
                  </a:lnTo>
                  <a:cubicBezTo>
                    <a:pt x="10717911" y="66675"/>
                    <a:pt x="10663682" y="12700"/>
                    <a:pt x="10596626" y="12700"/>
                  </a:cubicBezTo>
                  <a:lnTo>
                    <a:pt x="133985" y="12700"/>
                  </a:lnTo>
                  <a:lnTo>
                    <a:pt x="133985" y="6350"/>
                  </a:lnTo>
                  <a:lnTo>
                    <a:pt x="133985" y="12700"/>
                  </a:lnTo>
                  <a:cubicBezTo>
                    <a:pt x="66929" y="12700"/>
                    <a:pt x="12700" y="66802"/>
                    <a:pt x="12700" y="133350"/>
                  </a:cubicBezTo>
                  <a:close/>
                </a:path>
              </a:pathLst>
            </a:custGeom>
            <a:solidFill>
              <a:srgbClr val="CECEC9"/>
            </a:solidFill>
          </p:spPr>
        </p:sp>
      </p:grpSp>
      <p:grpSp>
        <p:nvGrpSpPr>
          <p:cNvPr name="Group 21" id="21"/>
          <p:cNvGrpSpPr/>
          <p:nvPr/>
        </p:nvGrpSpPr>
        <p:grpSpPr>
          <a:xfrm rot="0">
            <a:off x="9493746" y="5029349"/>
            <a:ext cx="2835325" cy="354360"/>
            <a:chOff x="0" y="0"/>
            <a:chExt cx="3780433" cy="472480"/>
          </a:xfrm>
        </p:grpSpPr>
        <p:sp>
          <p:nvSpPr>
            <p:cNvPr name="Freeform 22" id="22"/>
            <p:cNvSpPr/>
            <p:nvPr/>
          </p:nvSpPr>
          <p:spPr>
            <a:xfrm flipH="false" flipV="false" rot="0">
              <a:off x="0" y="0"/>
              <a:ext cx="3780433" cy="472480"/>
            </a:xfrm>
            <a:custGeom>
              <a:avLst/>
              <a:gdLst/>
              <a:ahLst/>
              <a:cxnLst/>
              <a:rect r="r" b="b" t="t" l="l"/>
              <a:pathLst>
                <a:path h="472480" w="3780433">
                  <a:moveTo>
                    <a:pt x="0" y="0"/>
                  </a:moveTo>
                  <a:lnTo>
                    <a:pt x="3780433" y="0"/>
                  </a:lnTo>
                  <a:lnTo>
                    <a:pt x="3780433" y="472480"/>
                  </a:lnTo>
                  <a:lnTo>
                    <a:pt x="0" y="472480"/>
                  </a:lnTo>
                  <a:close/>
                </a:path>
              </a:pathLst>
            </a:custGeom>
            <a:solidFill>
              <a:srgbClr val="000000">
                <a:alpha val="0"/>
              </a:srgbClr>
            </a:solidFill>
          </p:spPr>
        </p:sp>
        <p:sp>
          <p:nvSpPr>
            <p:cNvPr name="TextBox 23" id="23"/>
            <p:cNvSpPr txBox="true"/>
            <p:nvPr/>
          </p:nvSpPr>
          <p:spPr>
            <a:xfrm>
              <a:off x="0" y="-28575"/>
              <a:ext cx="3780433" cy="50105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Multi-Screen Design</a:t>
              </a:r>
            </a:p>
          </p:txBody>
        </p:sp>
      </p:grpSp>
      <p:grpSp>
        <p:nvGrpSpPr>
          <p:cNvPr name="Group 24" id="24"/>
          <p:cNvGrpSpPr/>
          <p:nvPr/>
        </p:nvGrpSpPr>
        <p:grpSpPr>
          <a:xfrm rot="0">
            <a:off x="9493746" y="5519737"/>
            <a:ext cx="7565678" cy="725686"/>
            <a:chOff x="0" y="0"/>
            <a:chExt cx="10087570" cy="967582"/>
          </a:xfrm>
        </p:grpSpPr>
        <p:sp>
          <p:nvSpPr>
            <p:cNvPr name="Freeform 25" id="25"/>
            <p:cNvSpPr/>
            <p:nvPr/>
          </p:nvSpPr>
          <p:spPr>
            <a:xfrm flipH="false" flipV="false" rot="0">
              <a:off x="0" y="0"/>
              <a:ext cx="10087570" cy="967582"/>
            </a:xfrm>
            <a:custGeom>
              <a:avLst/>
              <a:gdLst/>
              <a:ahLst/>
              <a:cxnLst/>
              <a:rect r="r" b="b" t="t" l="l"/>
              <a:pathLst>
                <a:path h="967582" w="10087570">
                  <a:moveTo>
                    <a:pt x="0" y="0"/>
                  </a:moveTo>
                  <a:lnTo>
                    <a:pt x="10087570" y="0"/>
                  </a:lnTo>
                  <a:lnTo>
                    <a:pt x="10087570" y="967582"/>
                  </a:lnTo>
                  <a:lnTo>
                    <a:pt x="0" y="967582"/>
                  </a:lnTo>
                  <a:close/>
                </a:path>
              </a:pathLst>
            </a:custGeom>
            <a:solidFill>
              <a:srgbClr val="000000">
                <a:alpha val="0"/>
              </a:srgbClr>
            </a:solidFill>
          </p:spPr>
        </p:sp>
        <p:sp>
          <p:nvSpPr>
            <p:cNvPr name="TextBox 26" id="26"/>
            <p:cNvSpPr txBox="true"/>
            <p:nvPr/>
          </p:nvSpPr>
          <p:spPr>
            <a:xfrm>
              <a:off x="0" y="-76200"/>
              <a:ext cx="10087570" cy="1043782"/>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Implement at least two screens: a home screen for browsing and a details screen for in-depth information.</a:t>
              </a:r>
            </a:p>
          </p:txBody>
        </p:sp>
      </p:grpSp>
      <p:grpSp>
        <p:nvGrpSpPr>
          <p:cNvPr name="Group 27" id="27"/>
          <p:cNvGrpSpPr/>
          <p:nvPr/>
        </p:nvGrpSpPr>
        <p:grpSpPr>
          <a:xfrm rot="0">
            <a:off x="987475" y="6703814"/>
            <a:ext cx="8047881" cy="1698277"/>
            <a:chOff x="0" y="0"/>
            <a:chExt cx="10730508" cy="2264370"/>
          </a:xfrm>
        </p:grpSpPr>
        <p:sp>
          <p:nvSpPr>
            <p:cNvPr name="Freeform 28" id="28"/>
            <p:cNvSpPr/>
            <p:nvPr/>
          </p:nvSpPr>
          <p:spPr>
            <a:xfrm flipH="false" flipV="false" rot="0">
              <a:off x="6350" y="6350"/>
              <a:ext cx="10717911" cy="2251710"/>
            </a:xfrm>
            <a:custGeom>
              <a:avLst/>
              <a:gdLst/>
              <a:ahLst/>
              <a:cxnLst/>
              <a:rect r="r" b="b" t="t" l="l"/>
              <a:pathLst>
                <a:path h="2251710" w="10717911">
                  <a:moveTo>
                    <a:pt x="0" y="127000"/>
                  </a:moveTo>
                  <a:cubicBezTo>
                    <a:pt x="0" y="56896"/>
                    <a:pt x="57150" y="0"/>
                    <a:pt x="127635" y="0"/>
                  </a:cubicBezTo>
                  <a:lnTo>
                    <a:pt x="10590276" y="0"/>
                  </a:lnTo>
                  <a:cubicBezTo>
                    <a:pt x="10660761" y="0"/>
                    <a:pt x="10717911" y="56896"/>
                    <a:pt x="10717911" y="127000"/>
                  </a:cubicBezTo>
                  <a:lnTo>
                    <a:pt x="10717911" y="2124710"/>
                  </a:lnTo>
                  <a:cubicBezTo>
                    <a:pt x="10717911" y="2194814"/>
                    <a:pt x="10660761" y="2251710"/>
                    <a:pt x="10590276" y="2251710"/>
                  </a:cubicBezTo>
                  <a:lnTo>
                    <a:pt x="127635" y="2251710"/>
                  </a:lnTo>
                  <a:cubicBezTo>
                    <a:pt x="57150" y="2251710"/>
                    <a:pt x="0" y="2194814"/>
                    <a:pt x="0" y="2124710"/>
                  </a:cubicBezTo>
                  <a:close/>
                </a:path>
              </a:pathLst>
            </a:custGeom>
            <a:solidFill>
              <a:srgbClr val="E8E8E3"/>
            </a:solidFill>
          </p:spPr>
        </p:sp>
        <p:sp>
          <p:nvSpPr>
            <p:cNvPr name="Freeform 29" id="29"/>
            <p:cNvSpPr/>
            <p:nvPr/>
          </p:nvSpPr>
          <p:spPr>
            <a:xfrm flipH="false" flipV="false" rot="0">
              <a:off x="0" y="0"/>
              <a:ext cx="10730611" cy="2264410"/>
            </a:xfrm>
            <a:custGeom>
              <a:avLst/>
              <a:gdLst/>
              <a:ahLst/>
              <a:cxnLst/>
              <a:rect r="r" b="b" t="t" l="l"/>
              <a:pathLst>
                <a:path h="2264410" w="10730611">
                  <a:moveTo>
                    <a:pt x="0" y="133350"/>
                  </a:moveTo>
                  <a:cubicBezTo>
                    <a:pt x="0" y="59690"/>
                    <a:pt x="59944" y="0"/>
                    <a:pt x="133985" y="0"/>
                  </a:cubicBezTo>
                  <a:lnTo>
                    <a:pt x="10596626" y="0"/>
                  </a:lnTo>
                  <a:lnTo>
                    <a:pt x="10596626" y="6350"/>
                  </a:lnTo>
                  <a:lnTo>
                    <a:pt x="10596626" y="0"/>
                  </a:lnTo>
                  <a:cubicBezTo>
                    <a:pt x="10670540" y="0"/>
                    <a:pt x="10730611" y="59690"/>
                    <a:pt x="10730611" y="133350"/>
                  </a:cubicBezTo>
                  <a:lnTo>
                    <a:pt x="10724261" y="133350"/>
                  </a:lnTo>
                  <a:lnTo>
                    <a:pt x="10730611" y="133350"/>
                  </a:lnTo>
                  <a:lnTo>
                    <a:pt x="10730611" y="2131060"/>
                  </a:lnTo>
                  <a:lnTo>
                    <a:pt x="10724261" y="2131060"/>
                  </a:lnTo>
                  <a:lnTo>
                    <a:pt x="10730611" y="2131060"/>
                  </a:lnTo>
                  <a:cubicBezTo>
                    <a:pt x="10730611" y="2204720"/>
                    <a:pt x="10670667" y="2264410"/>
                    <a:pt x="10596626" y="2264410"/>
                  </a:cubicBezTo>
                  <a:lnTo>
                    <a:pt x="10596626" y="2258060"/>
                  </a:lnTo>
                  <a:lnTo>
                    <a:pt x="10596626" y="2264410"/>
                  </a:lnTo>
                  <a:lnTo>
                    <a:pt x="133985" y="2264410"/>
                  </a:lnTo>
                  <a:lnTo>
                    <a:pt x="133985" y="2258060"/>
                  </a:lnTo>
                  <a:lnTo>
                    <a:pt x="133985" y="2264410"/>
                  </a:lnTo>
                  <a:cubicBezTo>
                    <a:pt x="59944" y="2264410"/>
                    <a:pt x="0" y="2204720"/>
                    <a:pt x="0" y="2131060"/>
                  </a:cubicBezTo>
                  <a:lnTo>
                    <a:pt x="0" y="133350"/>
                  </a:lnTo>
                  <a:lnTo>
                    <a:pt x="6350" y="133350"/>
                  </a:lnTo>
                  <a:lnTo>
                    <a:pt x="0" y="133350"/>
                  </a:lnTo>
                  <a:moveTo>
                    <a:pt x="12700" y="133350"/>
                  </a:moveTo>
                  <a:lnTo>
                    <a:pt x="12700" y="2131060"/>
                  </a:lnTo>
                  <a:lnTo>
                    <a:pt x="6350" y="2131060"/>
                  </a:lnTo>
                  <a:lnTo>
                    <a:pt x="12700" y="2131060"/>
                  </a:lnTo>
                  <a:cubicBezTo>
                    <a:pt x="12700" y="2197735"/>
                    <a:pt x="66929" y="2251710"/>
                    <a:pt x="133985" y="2251710"/>
                  </a:cubicBezTo>
                  <a:lnTo>
                    <a:pt x="10596626" y="2251710"/>
                  </a:lnTo>
                  <a:cubicBezTo>
                    <a:pt x="10663555" y="2251710"/>
                    <a:pt x="10717911" y="2197608"/>
                    <a:pt x="10717911" y="2131060"/>
                  </a:cubicBezTo>
                  <a:lnTo>
                    <a:pt x="10717911" y="133350"/>
                  </a:lnTo>
                  <a:cubicBezTo>
                    <a:pt x="10717911" y="66675"/>
                    <a:pt x="10663682" y="12700"/>
                    <a:pt x="10596626" y="12700"/>
                  </a:cubicBezTo>
                  <a:lnTo>
                    <a:pt x="133985" y="12700"/>
                  </a:lnTo>
                  <a:lnTo>
                    <a:pt x="133985" y="6350"/>
                  </a:lnTo>
                  <a:lnTo>
                    <a:pt x="133985" y="12700"/>
                  </a:lnTo>
                  <a:cubicBezTo>
                    <a:pt x="66929" y="12700"/>
                    <a:pt x="12700" y="66802"/>
                    <a:pt x="12700" y="133350"/>
                  </a:cubicBezTo>
                  <a:close/>
                </a:path>
              </a:pathLst>
            </a:custGeom>
            <a:solidFill>
              <a:srgbClr val="CECEC9"/>
            </a:solidFill>
          </p:spPr>
        </p:sp>
      </p:grpSp>
      <p:grpSp>
        <p:nvGrpSpPr>
          <p:cNvPr name="Group 30" id="30"/>
          <p:cNvGrpSpPr/>
          <p:nvPr/>
        </p:nvGrpSpPr>
        <p:grpSpPr>
          <a:xfrm rot="0">
            <a:off x="1228576" y="6944916"/>
            <a:ext cx="2835325" cy="354360"/>
            <a:chOff x="0" y="0"/>
            <a:chExt cx="3780433" cy="472480"/>
          </a:xfrm>
        </p:grpSpPr>
        <p:sp>
          <p:nvSpPr>
            <p:cNvPr name="Freeform 31" id="31"/>
            <p:cNvSpPr/>
            <p:nvPr/>
          </p:nvSpPr>
          <p:spPr>
            <a:xfrm flipH="false" flipV="false" rot="0">
              <a:off x="0" y="0"/>
              <a:ext cx="3780433" cy="472480"/>
            </a:xfrm>
            <a:custGeom>
              <a:avLst/>
              <a:gdLst/>
              <a:ahLst/>
              <a:cxnLst/>
              <a:rect r="r" b="b" t="t" l="l"/>
              <a:pathLst>
                <a:path h="472480" w="3780433">
                  <a:moveTo>
                    <a:pt x="0" y="0"/>
                  </a:moveTo>
                  <a:lnTo>
                    <a:pt x="3780433" y="0"/>
                  </a:lnTo>
                  <a:lnTo>
                    <a:pt x="3780433" y="472480"/>
                  </a:lnTo>
                  <a:lnTo>
                    <a:pt x="0" y="472480"/>
                  </a:lnTo>
                  <a:close/>
                </a:path>
              </a:pathLst>
            </a:custGeom>
            <a:solidFill>
              <a:srgbClr val="000000">
                <a:alpha val="0"/>
              </a:srgbClr>
            </a:solidFill>
          </p:spPr>
        </p:sp>
        <p:sp>
          <p:nvSpPr>
            <p:cNvPr name="TextBox 32" id="32"/>
            <p:cNvSpPr txBox="true"/>
            <p:nvPr/>
          </p:nvSpPr>
          <p:spPr>
            <a:xfrm>
              <a:off x="0" y="-28575"/>
              <a:ext cx="3780433" cy="50105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State Management</a:t>
              </a:r>
            </a:p>
          </p:txBody>
        </p:sp>
      </p:grpSp>
      <p:grpSp>
        <p:nvGrpSpPr>
          <p:cNvPr name="Group 33" id="33"/>
          <p:cNvGrpSpPr/>
          <p:nvPr/>
        </p:nvGrpSpPr>
        <p:grpSpPr>
          <a:xfrm rot="0">
            <a:off x="1228576" y="7435304"/>
            <a:ext cx="7565677" cy="725686"/>
            <a:chOff x="0" y="0"/>
            <a:chExt cx="10087570" cy="967582"/>
          </a:xfrm>
        </p:grpSpPr>
        <p:sp>
          <p:nvSpPr>
            <p:cNvPr name="Freeform 34" id="34"/>
            <p:cNvSpPr/>
            <p:nvPr/>
          </p:nvSpPr>
          <p:spPr>
            <a:xfrm flipH="false" flipV="false" rot="0">
              <a:off x="0" y="0"/>
              <a:ext cx="10087570" cy="967582"/>
            </a:xfrm>
            <a:custGeom>
              <a:avLst/>
              <a:gdLst/>
              <a:ahLst/>
              <a:cxnLst/>
              <a:rect r="r" b="b" t="t" l="l"/>
              <a:pathLst>
                <a:path h="967582" w="10087570">
                  <a:moveTo>
                    <a:pt x="0" y="0"/>
                  </a:moveTo>
                  <a:lnTo>
                    <a:pt x="10087570" y="0"/>
                  </a:lnTo>
                  <a:lnTo>
                    <a:pt x="10087570" y="967582"/>
                  </a:lnTo>
                  <a:lnTo>
                    <a:pt x="0" y="967582"/>
                  </a:lnTo>
                  <a:close/>
                </a:path>
              </a:pathLst>
            </a:custGeom>
            <a:solidFill>
              <a:srgbClr val="000000">
                <a:alpha val="0"/>
              </a:srgbClr>
            </a:solidFill>
          </p:spPr>
        </p:sp>
        <p:sp>
          <p:nvSpPr>
            <p:cNvPr name="TextBox 35" id="35"/>
            <p:cNvSpPr txBox="true"/>
            <p:nvPr/>
          </p:nvSpPr>
          <p:spPr>
            <a:xfrm>
              <a:off x="0" y="-76200"/>
              <a:ext cx="10087570" cy="1043782"/>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Use a robust state management solution to handle data flow and UI updates efficiently.</a:t>
              </a:r>
            </a:p>
          </p:txBody>
        </p:sp>
      </p:grpSp>
      <p:grpSp>
        <p:nvGrpSpPr>
          <p:cNvPr name="Group 36" id="36"/>
          <p:cNvGrpSpPr/>
          <p:nvPr/>
        </p:nvGrpSpPr>
        <p:grpSpPr>
          <a:xfrm rot="0">
            <a:off x="9252645" y="6703814"/>
            <a:ext cx="8047881" cy="1698277"/>
            <a:chOff x="0" y="0"/>
            <a:chExt cx="10730508" cy="2264370"/>
          </a:xfrm>
        </p:grpSpPr>
        <p:sp>
          <p:nvSpPr>
            <p:cNvPr name="Freeform 37" id="37"/>
            <p:cNvSpPr/>
            <p:nvPr/>
          </p:nvSpPr>
          <p:spPr>
            <a:xfrm flipH="false" flipV="false" rot="0">
              <a:off x="6350" y="6350"/>
              <a:ext cx="10717911" cy="2251710"/>
            </a:xfrm>
            <a:custGeom>
              <a:avLst/>
              <a:gdLst/>
              <a:ahLst/>
              <a:cxnLst/>
              <a:rect r="r" b="b" t="t" l="l"/>
              <a:pathLst>
                <a:path h="2251710" w="10717911">
                  <a:moveTo>
                    <a:pt x="0" y="127000"/>
                  </a:moveTo>
                  <a:cubicBezTo>
                    <a:pt x="0" y="56896"/>
                    <a:pt x="57150" y="0"/>
                    <a:pt x="127635" y="0"/>
                  </a:cubicBezTo>
                  <a:lnTo>
                    <a:pt x="10590276" y="0"/>
                  </a:lnTo>
                  <a:cubicBezTo>
                    <a:pt x="10660761" y="0"/>
                    <a:pt x="10717911" y="56896"/>
                    <a:pt x="10717911" y="127000"/>
                  </a:cubicBezTo>
                  <a:lnTo>
                    <a:pt x="10717911" y="2124710"/>
                  </a:lnTo>
                  <a:cubicBezTo>
                    <a:pt x="10717911" y="2194814"/>
                    <a:pt x="10660761" y="2251710"/>
                    <a:pt x="10590276" y="2251710"/>
                  </a:cubicBezTo>
                  <a:lnTo>
                    <a:pt x="127635" y="2251710"/>
                  </a:lnTo>
                  <a:cubicBezTo>
                    <a:pt x="57150" y="2251710"/>
                    <a:pt x="0" y="2194814"/>
                    <a:pt x="0" y="2124710"/>
                  </a:cubicBezTo>
                  <a:close/>
                </a:path>
              </a:pathLst>
            </a:custGeom>
            <a:solidFill>
              <a:srgbClr val="E8E8E3"/>
            </a:solidFill>
          </p:spPr>
        </p:sp>
        <p:sp>
          <p:nvSpPr>
            <p:cNvPr name="Freeform 38" id="38"/>
            <p:cNvSpPr/>
            <p:nvPr/>
          </p:nvSpPr>
          <p:spPr>
            <a:xfrm flipH="false" flipV="false" rot="0">
              <a:off x="0" y="0"/>
              <a:ext cx="10730611" cy="2264410"/>
            </a:xfrm>
            <a:custGeom>
              <a:avLst/>
              <a:gdLst/>
              <a:ahLst/>
              <a:cxnLst/>
              <a:rect r="r" b="b" t="t" l="l"/>
              <a:pathLst>
                <a:path h="2264410" w="10730611">
                  <a:moveTo>
                    <a:pt x="0" y="133350"/>
                  </a:moveTo>
                  <a:cubicBezTo>
                    <a:pt x="0" y="59690"/>
                    <a:pt x="59944" y="0"/>
                    <a:pt x="133985" y="0"/>
                  </a:cubicBezTo>
                  <a:lnTo>
                    <a:pt x="10596626" y="0"/>
                  </a:lnTo>
                  <a:lnTo>
                    <a:pt x="10596626" y="6350"/>
                  </a:lnTo>
                  <a:lnTo>
                    <a:pt x="10596626" y="0"/>
                  </a:lnTo>
                  <a:cubicBezTo>
                    <a:pt x="10670540" y="0"/>
                    <a:pt x="10730611" y="59690"/>
                    <a:pt x="10730611" y="133350"/>
                  </a:cubicBezTo>
                  <a:lnTo>
                    <a:pt x="10724261" y="133350"/>
                  </a:lnTo>
                  <a:lnTo>
                    <a:pt x="10730611" y="133350"/>
                  </a:lnTo>
                  <a:lnTo>
                    <a:pt x="10730611" y="2131060"/>
                  </a:lnTo>
                  <a:lnTo>
                    <a:pt x="10724261" y="2131060"/>
                  </a:lnTo>
                  <a:lnTo>
                    <a:pt x="10730611" y="2131060"/>
                  </a:lnTo>
                  <a:cubicBezTo>
                    <a:pt x="10730611" y="2204720"/>
                    <a:pt x="10670667" y="2264410"/>
                    <a:pt x="10596626" y="2264410"/>
                  </a:cubicBezTo>
                  <a:lnTo>
                    <a:pt x="10596626" y="2258060"/>
                  </a:lnTo>
                  <a:lnTo>
                    <a:pt x="10596626" y="2264410"/>
                  </a:lnTo>
                  <a:lnTo>
                    <a:pt x="133985" y="2264410"/>
                  </a:lnTo>
                  <a:lnTo>
                    <a:pt x="133985" y="2258060"/>
                  </a:lnTo>
                  <a:lnTo>
                    <a:pt x="133985" y="2264410"/>
                  </a:lnTo>
                  <a:cubicBezTo>
                    <a:pt x="59944" y="2264410"/>
                    <a:pt x="0" y="2204720"/>
                    <a:pt x="0" y="2131060"/>
                  </a:cubicBezTo>
                  <a:lnTo>
                    <a:pt x="0" y="133350"/>
                  </a:lnTo>
                  <a:lnTo>
                    <a:pt x="6350" y="133350"/>
                  </a:lnTo>
                  <a:lnTo>
                    <a:pt x="0" y="133350"/>
                  </a:lnTo>
                  <a:moveTo>
                    <a:pt x="12700" y="133350"/>
                  </a:moveTo>
                  <a:lnTo>
                    <a:pt x="12700" y="2131060"/>
                  </a:lnTo>
                  <a:lnTo>
                    <a:pt x="6350" y="2131060"/>
                  </a:lnTo>
                  <a:lnTo>
                    <a:pt x="12700" y="2131060"/>
                  </a:lnTo>
                  <a:cubicBezTo>
                    <a:pt x="12700" y="2197735"/>
                    <a:pt x="66929" y="2251710"/>
                    <a:pt x="133985" y="2251710"/>
                  </a:cubicBezTo>
                  <a:lnTo>
                    <a:pt x="10596626" y="2251710"/>
                  </a:lnTo>
                  <a:cubicBezTo>
                    <a:pt x="10663555" y="2251710"/>
                    <a:pt x="10717911" y="2197608"/>
                    <a:pt x="10717911" y="2131060"/>
                  </a:cubicBezTo>
                  <a:lnTo>
                    <a:pt x="10717911" y="133350"/>
                  </a:lnTo>
                  <a:cubicBezTo>
                    <a:pt x="10717911" y="66675"/>
                    <a:pt x="10663682" y="12700"/>
                    <a:pt x="10596626" y="12700"/>
                  </a:cubicBezTo>
                  <a:lnTo>
                    <a:pt x="133985" y="12700"/>
                  </a:lnTo>
                  <a:lnTo>
                    <a:pt x="133985" y="6350"/>
                  </a:lnTo>
                  <a:lnTo>
                    <a:pt x="133985" y="12700"/>
                  </a:lnTo>
                  <a:cubicBezTo>
                    <a:pt x="66929" y="12700"/>
                    <a:pt x="12700" y="66802"/>
                    <a:pt x="12700" y="133350"/>
                  </a:cubicBezTo>
                  <a:close/>
                </a:path>
              </a:pathLst>
            </a:custGeom>
            <a:solidFill>
              <a:srgbClr val="CECEC9"/>
            </a:solidFill>
          </p:spPr>
        </p:sp>
      </p:grpSp>
      <p:grpSp>
        <p:nvGrpSpPr>
          <p:cNvPr name="Group 39" id="39"/>
          <p:cNvGrpSpPr/>
          <p:nvPr/>
        </p:nvGrpSpPr>
        <p:grpSpPr>
          <a:xfrm rot="0">
            <a:off x="9493746" y="6944916"/>
            <a:ext cx="2835325" cy="354360"/>
            <a:chOff x="0" y="0"/>
            <a:chExt cx="3780433" cy="472480"/>
          </a:xfrm>
        </p:grpSpPr>
        <p:sp>
          <p:nvSpPr>
            <p:cNvPr name="Freeform 40" id="40"/>
            <p:cNvSpPr/>
            <p:nvPr/>
          </p:nvSpPr>
          <p:spPr>
            <a:xfrm flipH="false" flipV="false" rot="0">
              <a:off x="0" y="0"/>
              <a:ext cx="3780433" cy="472480"/>
            </a:xfrm>
            <a:custGeom>
              <a:avLst/>
              <a:gdLst/>
              <a:ahLst/>
              <a:cxnLst/>
              <a:rect r="r" b="b" t="t" l="l"/>
              <a:pathLst>
                <a:path h="472480" w="3780433">
                  <a:moveTo>
                    <a:pt x="0" y="0"/>
                  </a:moveTo>
                  <a:lnTo>
                    <a:pt x="3780433" y="0"/>
                  </a:lnTo>
                  <a:lnTo>
                    <a:pt x="3780433" y="472480"/>
                  </a:lnTo>
                  <a:lnTo>
                    <a:pt x="0" y="472480"/>
                  </a:lnTo>
                  <a:close/>
                </a:path>
              </a:pathLst>
            </a:custGeom>
            <a:solidFill>
              <a:srgbClr val="000000">
                <a:alpha val="0"/>
              </a:srgbClr>
            </a:solidFill>
          </p:spPr>
        </p:sp>
        <p:sp>
          <p:nvSpPr>
            <p:cNvPr name="TextBox 41" id="41"/>
            <p:cNvSpPr txBox="true"/>
            <p:nvPr/>
          </p:nvSpPr>
          <p:spPr>
            <a:xfrm>
              <a:off x="0" y="-28575"/>
              <a:ext cx="3780433" cy="50105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Standard Architecture</a:t>
              </a:r>
            </a:p>
          </p:txBody>
        </p:sp>
      </p:grpSp>
      <p:grpSp>
        <p:nvGrpSpPr>
          <p:cNvPr name="Group 42" id="42"/>
          <p:cNvGrpSpPr/>
          <p:nvPr/>
        </p:nvGrpSpPr>
        <p:grpSpPr>
          <a:xfrm rot="0">
            <a:off x="9493746" y="7435304"/>
            <a:ext cx="7565678" cy="725686"/>
            <a:chOff x="0" y="0"/>
            <a:chExt cx="10087570" cy="967582"/>
          </a:xfrm>
        </p:grpSpPr>
        <p:sp>
          <p:nvSpPr>
            <p:cNvPr name="Freeform 43" id="43"/>
            <p:cNvSpPr/>
            <p:nvPr/>
          </p:nvSpPr>
          <p:spPr>
            <a:xfrm flipH="false" flipV="false" rot="0">
              <a:off x="0" y="0"/>
              <a:ext cx="10087570" cy="967582"/>
            </a:xfrm>
            <a:custGeom>
              <a:avLst/>
              <a:gdLst/>
              <a:ahLst/>
              <a:cxnLst/>
              <a:rect r="r" b="b" t="t" l="l"/>
              <a:pathLst>
                <a:path h="967582" w="10087570">
                  <a:moveTo>
                    <a:pt x="0" y="0"/>
                  </a:moveTo>
                  <a:lnTo>
                    <a:pt x="10087570" y="0"/>
                  </a:lnTo>
                  <a:lnTo>
                    <a:pt x="10087570" y="967582"/>
                  </a:lnTo>
                  <a:lnTo>
                    <a:pt x="0" y="967582"/>
                  </a:lnTo>
                  <a:close/>
                </a:path>
              </a:pathLst>
            </a:custGeom>
            <a:solidFill>
              <a:srgbClr val="000000">
                <a:alpha val="0"/>
              </a:srgbClr>
            </a:solidFill>
          </p:spPr>
        </p:sp>
        <p:sp>
          <p:nvSpPr>
            <p:cNvPr name="TextBox 44" id="44"/>
            <p:cNvSpPr txBox="true"/>
            <p:nvPr/>
          </p:nvSpPr>
          <p:spPr>
            <a:xfrm>
              <a:off x="0" y="-76200"/>
              <a:ext cx="10087570" cy="1043782"/>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Adhere to industry best practices and maintain a clear, scalable project structure.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5" id="5"/>
          <p:cNvGrpSpPr/>
          <p:nvPr/>
        </p:nvGrpSpPr>
        <p:grpSpPr>
          <a:xfrm rot="0">
            <a:off x="975122" y="766911"/>
            <a:ext cx="6054626" cy="696516"/>
            <a:chOff x="0" y="0"/>
            <a:chExt cx="8072835" cy="928688"/>
          </a:xfrm>
        </p:grpSpPr>
        <p:sp>
          <p:nvSpPr>
            <p:cNvPr name="Freeform 6" id="6"/>
            <p:cNvSpPr/>
            <p:nvPr/>
          </p:nvSpPr>
          <p:spPr>
            <a:xfrm flipH="false" flipV="false" rot="0">
              <a:off x="0" y="0"/>
              <a:ext cx="8072835" cy="928688"/>
            </a:xfrm>
            <a:custGeom>
              <a:avLst/>
              <a:gdLst/>
              <a:ahLst/>
              <a:cxnLst/>
              <a:rect r="r" b="b" t="t" l="l"/>
              <a:pathLst>
                <a:path h="928688" w="8072835">
                  <a:moveTo>
                    <a:pt x="0" y="0"/>
                  </a:moveTo>
                  <a:lnTo>
                    <a:pt x="8072835" y="0"/>
                  </a:lnTo>
                  <a:lnTo>
                    <a:pt x="8072835" y="928688"/>
                  </a:lnTo>
                  <a:lnTo>
                    <a:pt x="0" y="928688"/>
                  </a:lnTo>
                  <a:close/>
                </a:path>
              </a:pathLst>
            </a:custGeom>
            <a:solidFill>
              <a:srgbClr val="000000">
                <a:alpha val="0"/>
              </a:srgbClr>
            </a:solidFill>
          </p:spPr>
        </p:sp>
        <p:sp>
          <p:nvSpPr>
            <p:cNvPr name="TextBox 7" id="7"/>
            <p:cNvSpPr txBox="true"/>
            <p:nvPr/>
          </p:nvSpPr>
          <p:spPr>
            <a:xfrm>
              <a:off x="0" y="-38100"/>
              <a:ext cx="8072835" cy="966788"/>
            </a:xfrm>
            <a:prstGeom prst="rect">
              <a:avLst/>
            </a:prstGeom>
          </p:spPr>
          <p:txBody>
            <a:bodyPr anchor="t" rtlCol="false" tIns="0" lIns="0" bIns="0" rIns="0"/>
            <a:lstStyle/>
            <a:p>
              <a:pPr algn="l">
                <a:lnSpc>
                  <a:spcPts val="5437"/>
                </a:lnSpc>
              </a:pPr>
              <a:r>
                <a:rPr lang="en-US" sz="4375">
                  <a:solidFill>
                    <a:srgbClr val="312F2B"/>
                  </a:solidFill>
                  <a:latin typeface="Arimo"/>
                  <a:ea typeface="Arimo"/>
                  <a:cs typeface="Arimo"/>
                  <a:sym typeface="Arimo"/>
                </a:rPr>
                <a:t>Application Architecture</a:t>
              </a:r>
            </a:p>
          </p:txBody>
        </p:sp>
      </p:grpSp>
      <p:grpSp>
        <p:nvGrpSpPr>
          <p:cNvPr name="Group 8" id="8"/>
          <p:cNvGrpSpPr/>
          <p:nvPr/>
        </p:nvGrpSpPr>
        <p:grpSpPr>
          <a:xfrm rot="0">
            <a:off x="975122" y="1909167"/>
            <a:ext cx="16337756" cy="5683151"/>
            <a:chOff x="0" y="0"/>
            <a:chExt cx="21783675" cy="7577535"/>
          </a:xfrm>
        </p:grpSpPr>
        <p:sp>
          <p:nvSpPr>
            <p:cNvPr name="Freeform 9" id="9"/>
            <p:cNvSpPr/>
            <p:nvPr/>
          </p:nvSpPr>
          <p:spPr>
            <a:xfrm flipH="false" flipV="false" rot="0">
              <a:off x="0" y="0"/>
              <a:ext cx="21783802" cy="7577582"/>
            </a:xfrm>
            <a:custGeom>
              <a:avLst/>
              <a:gdLst/>
              <a:ahLst/>
              <a:cxnLst/>
              <a:rect r="r" b="b" t="t" l="l"/>
              <a:pathLst>
                <a:path h="7577582" w="21783802">
                  <a:moveTo>
                    <a:pt x="0" y="124841"/>
                  </a:moveTo>
                  <a:cubicBezTo>
                    <a:pt x="0" y="55880"/>
                    <a:pt x="55880" y="0"/>
                    <a:pt x="124841" y="0"/>
                  </a:cubicBezTo>
                  <a:lnTo>
                    <a:pt x="21658960" y="0"/>
                  </a:lnTo>
                  <a:cubicBezTo>
                    <a:pt x="21727922" y="0"/>
                    <a:pt x="21783802" y="55880"/>
                    <a:pt x="21783802" y="124841"/>
                  </a:cubicBezTo>
                  <a:lnTo>
                    <a:pt x="21783802" y="7452741"/>
                  </a:lnTo>
                  <a:cubicBezTo>
                    <a:pt x="21783802" y="7521702"/>
                    <a:pt x="21727922" y="7577582"/>
                    <a:pt x="21658960" y="7577582"/>
                  </a:cubicBezTo>
                  <a:lnTo>
                    <a:pt x="124841" y="7577582"/>
                  </a:lnTo>
                  <a:cubicBezTo>
                    <a:pt x="55880" y="7577582"/>
                    <a:pt x="0" y="7521702"/>
                    <a:pt x="0" y="7452741"/>
                  </a:cubicBezTo>
                  <a:close/>
                </a:path>
              </a:pathLst>
            </a:custGeom>
            <a:solidFill>
              <a:srgbClr val="E8E8E3"/>
            </a:solidFill>
          </p:spPr>
        </p:sp>
      </p:grpSp>
      <p:grpSp>
        <p:nvGrpSpPr>
          <p:cNvPr name="Group 10" id="10"/>
          <p:cNvGrpSpPr/>
          <p:nvPr/>
        </p:nvGrpSpPr>
        <p:grpSpPr>
          <a:xfrm rot="0">
            <a:off x="964109" y="1909167"/>
            <a:ext cx="16359782" cy="5683151"/>
            <a:chOff x="0" y="0"/>
            <a:chExt cx="21813043" cy="7577535"/>
          </a:xfrm>
        </p:grpSpPr>
        <p:sp>
          <p:nvSpPr>
            <p:cNvPr name="Freeform 11" id="11"/>
            <p:cNvSpPr/>
            <p:nvPr/>
          </p:nvSpPr>
          <p:spPr>
            <a:xfrm flipH="false" flipV="false" rot="0">
              <a:off x="0" y="0"/>
              <a:ext cx="21813013" cy="7577582"/>
            </a:xfrm>
            <a:custGeom>
              <a:avLst/>
              <a:gdLst/>
              <a:ahLst/>
              <a:cxnLst/>
              <a:rect r="r" b="b" t="t" l="l"/>
              <a:pathLst>
                <a:path h="7577582" w="21813013">
                  <a:moveTo>
                    <a:pt x="0" y="44577"/>
                  </a:moveTo>
                  <a:cubicBezTo>
                    <a:pt x="0" y="19939"/>
                    <a:pt x="19939" y="0"/>
                    <a:pt x="44577" y="0"/>
                  </a:cubicBezTo>
                  <a:lnTo>
                    <a:pt x="21768436" y="0"/>
                  </a:lnTo>
                  <a:cubicBezTo>
                    <a:pt x="21793073" y="0"/>
                    <a:pt x="21813013" y="19939"/>
                    <a:pt x="21813013" y="44577"/>
                  </a:cubicBezTo>
                  <a:lnTo>
                    <a:pt x="21813013" y="7533005"/>
                  </a:lnTo>
                  <a:cubicBezTo>
                    <a:pt x="21813013" y="7557643"/>
                    <a:pt x="21793073" y="7577582"/>
                    <a:pt x="21768436" y="7577582"/>
                  </a:cubicBezTo>
                  <a:lnTo>
                    <a:pt x="44577" y="7577582"/>
                  </a:lnTo>
                  <a:cubicBezTo>
                    <a:pt x="19939" y="7577582"/>
                    <a:pt x="0" y="7557643"/>
                    <a:pt x="0" y="7533005"/>
                  </a:cubicBezTo>
                  <a:close/>
                </a:path>
              </a:pathLst>
            </a:custGeom>
            <a:solidFill>
              <a:srgbClr val="E8E8E3"/>
            </a:solidFill>
          </p:spPr>
        </p:sp>
      </p:grpSp>
      <p:grpSp>
        <p:nvGrpSpPr>
          <p:cNvPr name="Group 12" id="12"/>
          <p:cNvGrpSpPr/>
          <p:nvPr/>
        </p:nvGrpSpPr>
        <p:grpSpPr>
          <a:xfrm rot="0">
            <a:off x="1186904" y="2076301"/>
            <a:ext cx="15914191" cy="5348882"/>
            <a:chOff x="0" y="0"/>
            <a:chExt cx="21218922" cy="7131843"/>
          </a:xfrm>
        </p:grpSpPr>
        <p:sp>
          <p:nvSpPr>
            <p:cNvPr name="Freeform 13" id="13"/>
            <p:cNvSpPr/>
            <p:nvPr/>
          </p:nvSpPr>
          <p:spPr>
            <a:xfrm flipH="false" flipV="false" rot="0">
              <a:off x="0" y="0"/>
              <a:ext cx="21218922" cy="7131843"/>
            </a:xfrm>
            <a:custGeom>
              <a:avLst/>
              <a:gdLst/>
              <a:ahLst/>
              <a:cxnLst/>
              <a:rect r="r" b="b" t="t" l="l"/>
              <a:pathLst>
                <a:path h="7131843" w="21218922">
                  <a:moveTo>
                    <a:pt x="0" y="0"/>
                  </a:moveTo>
                  <a:lnTo>
                    <a:pt x="21218922" y="0"/>
                  </a:lnTo>
                  <a:lnTo>
                    <a:pt x="21218922" y="7131843"/>
                  </a:lnTo>
                  <a:lnTo>
                    <a:pt x="0" y="7131843"/>
                  </a:lnTo>
                  <a:close/>
                </a:path>
              </a:pathLst>
            </a:custGeom>
            <a:solidFill>
              <a:srgbClr val="000000">
                <a:alpha val="0"/>
              </a:srgbClr>
            </a:solidFill>
          </p:spPr>
        </p:sp>
        <p:sp>
          <p:nvSpPr>
            <p:cNvPr name="TextBox 14" id="14"/>
            <p:cNvSpPr txBox="true"/>
            <p:nvPr/>
          </p:nvSpPr>
          <p:spPr>
            <a:xfrm>
              <a:off x="0" y="-104775"/>
              <a:ext cx="21218922" cy="7236618"/>
            </a:xfrm>
            <a:prstGeom prst="rect">
              <a:avLst/>
            </a:prstGeom>
          </p:spPr>
          <p:txBody>
            <a:bodyPr anchor="t" rtlCol="false" tIns="0" lIns="0" bIns="0" rIns="0"/>
            <a:lstStyle/>
            <a:p>
              <a:pPr algn="l">
                <a:lnSpc>
                  <a:spcPts val="2750"/>
                </a:lnSpc>
              </a:pPr>
              <a:r>
                <a:rPr lang="en-US" sz="1750">
                  <a:solidFill>
                    <a:srgbClr val="272525"/>
                  </a:solidFill>
                  <a:latin typeface="Consolas"/>
                  <a:ea typeface="Consolas"/>
                  <a:cs typeface="Consolas"/>
                  <a:sym typeface="Consolas"/>
                </a:rPr>
                <a:t>space_explorer/</a:t>
              </a:r>
            </a:p>
            <a:p>
              <a:pPr algn="l">
                <a:lnSpc>
                  <a:spcPts val="2750"/>
                </a:lnSpc>
              </a:pPr>
              <a:r>
                <a:rPr lang="en-US" sz="1750">
                  <a:solidFill>
                    <a:srgbClr val="272525"/>
                  </a:solidFill>
                  <a:latin typeface="Consolas"/>
                  <a:ea typeface="Consolas"/>
                  <a:cs typeface="Consolas"/>
                  <a:sym typeface="Consolas"/>
                </a:rPr>
                <a:t>├── lib/</a:t>
              </a:r>
            </a:p>
            <a:p>
              <a:pPr algn="l">
                <a:lnSpc>
                  <a:spcPts val="2750"/>
                </a:lnSpc>
              </a:pPr>
              <a:r>
                <a:rPr lang="en-US" sz="1750">
                  <a:solidFill>
                    <a:srgbClr val="272525"/>
                  </a:solidFill>
                  <a:latin typeface="Consolas"/>
                  <a:ea typeface="Consolas"/>
                  <a:cs typeface="Consolas"/>
                  <a:sym typeface="Consolas"/>
                </a:rPr>
                <a:t>│   ├── main.dart</a:t>
              </a:r>
            </a:p>
            <a:p>
              <a:pPr algn="l">
                <a:lnSpc>
                  <a:spcPts val="2750"/>
                </a:lnSpc>
              </a:pPr>
              <a:r>
                <a:rPr lang="en-US" sz="1750">
                  <a:solidFill>
                    <a:srgbClr val="272525"/>
                  </a:solidFill>
                  <a:latin typeface="Consolas"/>
                  <a:ea typeface="Consolas"/>
                  <a:cs typeface="Consolas"/>
                  <a:sym typeface="Consolas"/>
                </a:rPr>
                <a:t>│   ├── models/</a:t>
              </a:r>
            </a:p>
            <a:p>
              <a:pPr algn="l">
                <a:lnSpc>
                  <a:spcPts val="2750"/>
                </a:lnSpc>
              </a:pPr>
              <a:r>
                <a:rPr lang="en-US" sz="1750">
                  <a:solidFill>
                    <a:srgbClr val="272525"/>
                  </a:solidFill>
                  <a:latin typeface="Consolas"/>
                  <a:ea typeface="Consolas"/>
                  <a:cs typeface="Consolas"/>
                  <a:sym typeface="Consolas"/>
                </a:rPr>
                <a:t>│   │   └── celestial_body.dart</a:t>
              </a:r>
            </a:p>
            <a:p>
              <a:pPr algn="l">
                <a:lnSpc>
                  <a:spcPts val="2750"/>
                </a:lnSpc>
              </a:pPr>
              <a:r>
                <a:rPr lang="en-US" sz="1750">
                  <a:solidFill>
                    <a:srgbClr val="272525"/>
                  </a:solidFill>
                  <a:latin typeface="Consolas"/>
                  <a:ea typeface="Consolas"/>
                  <a:cs typeface="Consolas"/>
                  <a:sym typeface="Consolas"/>
                </a:rPr>
                <a:t>│   ├── providers/</a:t>
              </a:r>
            </a:p>
            <a:p>
              <a:pPr algn="l">
                <a:lnSpc>
                  <a:spcPts val="2750"/>
                </a:lnSpc>
              </a:pPr>
              <a:r>
                <a:rPr lang="en-US" sz="1750">
                  <a:solidFill>
                    <a:srgbClr val="272525"/>
                  </a:solidFill>
                  <a:latin typeface="Consolas"/>
                  <a:ea typeface="Consolas"/>
                  <a:cs typeface="Consolas"/>
                  <a:sym typeface="Consolas"/>
                </a:rPr>
                <a:t>│   │   └── space_provider.dart</a:t>
              </a:r>
            </a:p>
            <a:p>
              <a:pPr algn="l">
                <a:lnSpc>
                  <a:spcPts val="2750"/>
                </a:lnSpc>
              </a:pPr>
              <a:r>
                <a:rPr lang="en-US" sz="1750">
                  <a:solidFill>
                    <a:srgbClr val="272525"/>
                  </a:solidFill>
                  <a:latin typeface="Consolas"/>
                  <a:ea typeface="Consolas"/>
                  <a:cs typeface="Consolas"/>
                  <a:sym typeface="Consolas"/>
                </a:rPr>
                <a:t>│   ├── screens/</a:t>
              </a:r>
            </a:p>
            <a:p>
              <a:pPr algn="l">
                <a:lnSpc>
                  <a:spcPts val="2750"/>
                </a:lnSpc>
              </a:pPr>
              <a:r>
                <a:rPr lang="en-US" sz="1750">
                  <a:solidFill>
                    <a:srgbClr val="272525"/>
                  </a:solidFill>
                  <a:latin typeface="Consolas"/>
                  <a:ea typeface="Consolas"/>
                  <a:cs typeface="Consolas"/>
                  <a:sym typeface="Consolas"/>
                </a:rPr>
                <a:t>│   │   ├── home_screen.dart</a:t>
              </a:r>
            </a:p>
            <a:p>
              <a:pPr algn="l">
                <a:lnSpc>
                  <a:spcPts val="2750"/>
                </a:lnSpc>
              </a:pPr>
              <a:r>
                <a:rPr lang="en-US" sz="1750">
                  <a:solidFill>
                    <a:srgbClr val="272525"/>
                  </a:solidFill>
                  <a:latin typeface="Consolas"/>
                  <a:ea typeface="Consolas"/>
                  <a:cs typeface="Consolas"/>
                  <a:sym typeface="Consolas"/>
                </a:rPr>
                <a:t>│   │   └── details_screen.dart</a:t>
              </a:r>
            </a:p>
            <a:p>
              <a:pPr algn="l">
                <a:lnSpc>
                  <a:spcPts val="2750"/>
                </a:lnSpc>
              </a:pPr>
              <a:r>
                <a:rPr lang="en-US" sz="1750">
                  <a:solidFill>
                    <a:srgbClr val="272525"/>
                  </a:solidFill>
                  <a:latin typeface="Consolas"/>
                  <a:ea typeface="Consolas"/>
                  <a:cs typeface="Consolas"/>
                  <a:sym typeface="Consolas"/>
                </a:rPr>
                <a:t>│   └── widgets/</a:t>
              </a:r>
            </a:p>
            <a:p>
              <a:pPr algn="l">
                <a:lnSpc>
                  <a:spcPts val="2750"/>
                </a:lnSpc>
              </a:pPr>
              <a:r>
                <a:rPr lang="en-US" sz="1750">
                  <a:solidFill>
                    <a:srgbClr val="272525"/>
                  </a:solidFill>
                  <a:latin typeface="Consolas"/>
                  <a:ea typeface="Consolas"/>
                  <a:cs typeface="Consolas"/>
                  <a:sym typeface="Consolas"/>
                </a:rPr>
                <a:t>│       └── celestial_body_card.dart</a:t>
              </a:r>
            </a:p>
            <a:p>
              <a:pPr algn="l">
                <a:lnSpc>
                  <a:spcPts val="2750"/>
                </a:lnSpc>
              </a:pPr>
              <a:r>
                <a:rPr lang="en-US" sz="1750">
                  <a:solidFill>
                    <a:srgbClr val="272525"/>
                  </a:solidFill>
                  <a:latin typeface="Consolas"/>
                  <a:ea typeface="Consolas"/>
                  <a:cs typeface="Consolas"/>
                  <a:sym typeface="Consolas"/>
                </a:rPr>
                <a:t>└── assets/</a:t>
              </a:r>
            </a:p>
            <a:p>
              <a:pPr algn="l">
                <a:lnSpc>
                  <a:spcPts val="2750"/>
                </a:lnSpc>
              </a:pPr>
              <a:r>
                <a:rPr lang="en-US" sz="1750">
                  <a:solidFill>
                    <a:srgbClr val="272525"/>
                  </a:solidFill>
                  <a:latin typeface="Consolas"/>
                  <a:ea typeface="Consolas"/>
                  <a:cs typeface="Consolas"/>
                  <a:sym typeface="Consolas"/>
                </a:rPr>
                <a:t>    └── images/</a:t>
              </a:r>
            </a:p>
            <a:p>
              <a:pPr algn="l">
                <a:lnSpc>
                  <a:spcPts val="2750"/>
                </a:lnSpc>
              </a:pPr>
            </a:p>
          </p:txBody>
        </p:sp>
      </p:grpSp>
      <p:grpSp>
        <p:nvGrpSpPr>
          <p:cNvPr name="Group 15" id="15"/>
          <p:cNvGrpSpPr/>
          <p:nvPr/>
        </p:nvGrpSpPr>
        <p:grpSpPr>
          <a:xfrm rot="0">
            <a:off x="975122" y="7842945"/>
            <a:ext cx="16337756" cy="713185"/>
            <a:chOff x="0" y="0"/>
            <a:chExt cx="21783675" cy="950913"/>
          </a:xfrm>
        </p:grpSpPr>
        <p:sp>
          <p:nvSpPr>
            <p:cNvPr name="Freeform 16" id="16"/>
            <p:cNvSpPr/>
            <p:nvPr/>
          </p:nvSpPr>
          <p:spPr>
            <a:xfrm flipH="false" flipV="false" rot="0">
              <a:off x="0" y="0"/>
              <a:ext cx="21783675" cy="950913"/>
            </a:xfrm>
            <a:custGeom>
              <a:avLst/>
              <a:gdLst/>
              <a:ahLst/>
              <a:cxnLst/>
              <a:rect r="r" b="b" t="t" l="l"/>
              <a:pathLst>
                <a:path h="950913" w="21783675">
                  <a:moveTo>
                    <a:pt x="0" y="0"/>
                  </a:moveTo>
                  <a:lnTo>
                    <a:pt x="21783675" y="0"/>
                  </a:lnTo>
                  <a:lnTo>
                    <a:pt x="21783675" y="950913"/>
                  </a:lnTo>
                  <a:lnTo>
                    <a:pt x="0" y="950913"/>
                  </a:lnTo>
                  <a:close/>
                </a:path>
              </a:pathLst>
            </a:custGeom>
            <a:solidFill>
              <a:srgbClr val="000000">
                <a:alpha val="0"/>
              </a:srgbClr>
            </a:solidFill>
          </p:spPr>
        </p:sp>
        <p:sp>
          <p:nvSpPr>
            <p:cNvPr name="TextBox 17" id="17"/>
            <p:cNvSpPr txBox="true"/>
            <p:nvPr/>
          </p:nvSpPr>
          <p:spPr>
            <a:xfrm>
              <a:off x="0" y="-66675"/>
              <a:ext cx="21783675" cy="1017588"/>
            </a:xfrm>
            <a:prstGeom prst="rect">
              <a:avLst/>
            </a:prstGeom>
          </p:spPr>
          <p:txBody>
            <a:bodyPr anchor="t" rtlCol="false" tIns="0" lIns="0" bIns="0" rIns="0"/>
            <a:lstStyle/>
            <a:p>
              <a:pPr algn="l">
                <a:lnSpc>
                  <a:spcPts val="2750"/>
                </a:lnSpc>
              </a:pPr>
              <a:r>
                <a:rPr lang="en-US" sz="1750">
                  <a:solidFill>
                    <a:srgbClr val="272525"/>
                  </a:solidFill>
                  <a:latin typeface="Lato"/>
                  <a:ea typeface="Lato"/>
                  <a:cs typeface="Lato"/>
                  <a:sym typeface="Lato"/>
                </a:rPr>
                <a:t>The application architecture is structured into distinct layers to promote modularity and maintainability. The </a:t>
              </a:r>
              <a:r>
                <a:rPr lang="en-US" sz="1750" b="true">
                  <a:solidFill>
                    <a:srgbClr val="272525"/>
                  </a:solidFill>
                  <a:latin typeface="Lato Bold"/>
                  <a:ea typeface="Lato Bold"/>
                  <a:cs typeface="Lato Bold"/>
                  <a:sym typeface="Lato Bold"/>
                </a:rPr>
                <a:t>models</a:t>
              </a:r>
              <a:r>
                <a:rPr lang="en-US" sz="1750">
                  <a:solidFill>
                    <a:srgbClr val="272525"/>
                  </a:solidFill>
                  <a:latin typeface="Lato"/>
                  <a:ea typeface="Lato"/>
                  <a:cs typeface="Lato"/>
                  <a:sym typeface="Lato"/>
                </a:rPr>
                <a:t> directory defines data structures, while </a:t>
              </a:r>
              <a:r>
                <a:rPr lang="en-US" sz="1750" b="true">
                  <a:solidFill>
                    <a:srgbClr val="272525"/>
                  </a:solidFill>
                  <a:latin typeface="Lato Bold"/>
                  <a:ea typeface="Lato Bold"/>
                  <a:cs typeface="Lato Bold"/>
                  <a:sym typeface="Lato Bold"/>
                </a:rPr>
                <a:t>providers</a:t>
              </a:r>
              <a:r>
                <a:rPr lang="en-US" sz="1750">
                  <a:solidFill>
                    <a:srgbClr val="272525"/>
                  </a:solidFill>
                  <a:latin typeface="Lato"/>
                  <a:ea typeface="Lato"/>
                  <a:cs typeface="Lato"/>
                  <a:sym typeface="Lato"/>
                </a:rPr>
                <a:t> manage the application state. The </a:t>
              </a:r>
              <a:r>
                <a:rPr lang="en-US" sz="1750" b="true">
                  <a:solidFill>
                    <a:srgbClr val="272525"/>
                  </a:solidFill>
                  <a:latin typeface="Lato Bold"/>
                  <a:ea typeface="Lato Bold"/>
                  <a:cs typeface="Lato Bold"/>
                  <a:sym typeface="Lato Bold"/>
                </a:rPr>
                <a:t>screens</a:t>
              </a:r>
              <a:r>
                <a:rPr lang="en-US" sz="1750">
                  <a:solidFill>
                    <a:srgbClr val="272525"/>
                  </a:solidFill>
                  <a:latin typeface="Lato"/>
                  <a:ea typeface="Lato"/>
                  <a:cs typeface="Lato"/>
                  <a:sym typeface="Lato"/>
                </a:rPr>
                <a:t> directory houses the UI components, and </a:t>
              </a:r>
              <a:r>
                <a:rPr lang="en-US" sz="1750" b="true">
                  <a:solidFill>
                    <a:srgbClr val="272525"/>
                  </a:solidFill>
                  <a:latin typeface="Lato Bold"/>
                  <a:ea typeface="Lato Bold"/>
                  <a:cs typeface="Lato Bold"/>
                  <a:sym typeface="Lato Bold"/>
                </a:rPr>
                <a:t>widgets</a:t>
              </a:r>
              <a:r>
                <a:rPr lang="en-US" sz="1750">
                  <a:solidFill>
                    <a:srgbClr val="272525"/>
                  </a:solidFill>
                  <a:latin typeface="Lato"/>
                  <a:ea typeface="Lato"/>
                  <a:cs typeface="Lato"/>
                  <a:sym typeface="Lato"/>
                </a:rPr>
                <a:t> contains reusable UI elements.</a:t>
              </a:r>
            </a:p>
          </p:txBody>
        </p:sp>
      </p:grpSp>
      <p:grpSp>
        <p:nvGrpSpPr>
          <p:cNvPr name="Group 18" id="18"/>
          <p:cNvGrpSpPr/>
          <p:nvPr/>
        </p:nvGrpSpPr>
        <p:grpSpPr>
          <a:xfrm rot="0">
            <a:off x="975122" y="8806755"/>
            <a:ext cx="16337756" cy="713185"/>
            <a:chOff x="0" y="0"/>
            <a:chExt cx="21783675" cy="950913"/>
          </a:xfrm>
        </p:grpSpPr>
        <p:sp>
          <p:nvSpPr>
            <p:cNvPr name="Freeform 19" id="19"/>
            <p:cNvSpPr/>
            <p:nvPr/>
          </p:nvSpPr>
          <p:spPr>
            <a:xfrm flipH="false" flipV="false" rot="0">
              <a:off x="0" y="0"/>
              <a:ext cx="21783675" cy="950913"/>
            </a:xfrm>
            <a:custGeom>
              <a:avLst/>
              <a:gdLst/>
              <a:ahLst/>
              <a:cxnLst/>
              <a:rect r="r" b="b" t="t" l="l"/>
              <a:pathLst>
                <a:path h="950913" w="21783675">
                  <a:moveTo>
                    <a:pt x="0" y="0"/>
                  </a:moveTo>
                  <a:lnTo>
                    <a:pt x="21783675" y="0"/>
                  </a:lnTo>
                  <a:lnTo>
                    <a:pt x="21783675" y="950913"/>
                  </a:lnTo>
                  <a:lnTo>
                    <a:pt x="0" y="950913"/>
                  </a:lnTo>
                  <a:close/>
                </a:path>
              </a:pathLst>
            </a:custGeom>
            <a:solidFill>
              <a:srgbClr val="000000">
                <a:alpha val="0"/>
              </a:srgbClr>
            </a:solidFill>
          </p:spPr>
        </p:sp>
        <p:sp>
          <p:nvSpPr>
            <p:cNvPr name="TextBox 20" id="20"/>
            <p:cNvSpPr txBox="true"/>
            <p:nvPr/>
          </p:nvSpPr>
          <p:spPr>
            <a:xfrm>
              <a:off x="0" y="-66675"/>
              <a:ext cx="21783675" cy="1017588"/>
            </a:xfrm>
            <a:prstGeom prst="rect">
              <a:avLst/>
            </a:prstGeom>
          </p:spPr>
          <p:txBody>
            <a:bodyPr anchor="t" rtlCol="false" tIns="0" lIns="0" bIns="0" rIns="0"/>
            <a:lstStyle/>
            <a:p>
              <a:pPr algn="l">
                <a:lnSpc>
                  <a:spcPts val="2750"/>
                </a:lnSpc>
              </a:pPr>
              <a:r>
                <a:rPr lang="en-US" sz="1750">
                  <a:solidFill>
                    <a:srgbClr val="272525"/>
                  </a:solidFill>
                  <a:latin typeface="Lato"/>
                  <a:ea typeface="Lato"/>
                  <a:cs typeface="Lato"/>
                  <a:sym typeface="Lato"/>
                </a:rPr>
                <a:t>This organization facilitates clear separation of concerns, making it easier to test, debug, and extend the application’s features. Adhering to a consistent architecture ensures that the codebase remains manageable as the project evolves.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5" id="5"/>
          <p:cNvGrpSpPr/>
          <p:nvPr/>
        </p:nvGrpSpPr>
        <p:grpSpPr>
          <a:xfrm rot="0">
            <a:off x="7846665" y="779115"/>
            <a:ext cx="5649665" cy="706190"/>
            <a:chOff x="0" y="0"/>
            <a:chExt cx="7532887" cy="941587"/>
          </a:xfrm>
        </p:grpSpPr>
        <p:sp>
          <p:nvSpPr>
            <p:cNvPr name="Freeform 6" id="6"/>
            <p:cNvSpPr/>
            <p:nvPr/>
          </p:nvSpPr>
          <p:spPr>
            <a:xfrm flipH="false" flipV="false" rot="0">
              <a:off x="0" y="0"/>
              <a:ext cx="7532887" cy="941587"/>
            </a:xfrm>
            <a:custGeom>
              <a:avLst/>
              <a:gdLst/>
              <a:ahLst/>
              <a:cxnLst/>
              <a:rect r="r" b="b" t="t" l="l"/>
              <a:pathLst>
                <a:path h="941587" w="7532887">
                  <a:moveTo>
                    <a:pt x="0" y="0"/>
                  </a:moveTo>
                  <a:lnTo>
                    <a:pt x="7532887" y="0"/>
                  </a:lnTo>
                  <a:lnTo>
                    <a:pt x="7532887" y="941587"/>
                  </a:lnTo>
                  <a:lnTo>
                    <a:pt x="0" y="941587"/>
                  </a:lnTo>
                  <a:close/>
                </a:path>
              </a:pathLst>
            </a:custGeom>
            <a:solidFill>
              <a:srgbClr val="000000">
                <a:alpha val="0"/>
              </a:srgbClr>
            </a:solidFill>
          </p:spPr>
        </p:sp>
        <p:sp>
          <p:nvSpPr>
            <p:cNvPr name="TextBox 7" id="7"/>
            <p:cNvSpPr txBox="true"/>
            <p:nvPr/>
          </p:nvSpPr>
          <p:spPr>
            <a:xfrm>
              <a:off x="0" y="-38100"/>
              <a:ext cx="7532887" cy="979687"/>
            </a:xfrm>
            <a:prstGeom prst="rect">
              <a:avLst/>
            </a:prstGeom>
          </p:spPr>
          <p:txBody>
            <a:bodyPr anchor="t" rtlCol="false" tIns="0" lIns="0" bIns="0" rIns="0"/>
            <a:lstStyle/>
            <a:p>
              <a:pPr algn="l">
                <a:lnSpc>
                  <a:spcPts val="5500"/>
                </a:lnSpc>
              </a:pPr>
              <a:r>
                <a:rPr lang="en-US" sz="4437">
                  <a:solidFill>
                    <a:srgbClr val="312F2B"/>
                  </a:solidFill>
                  <a:latin typeface="Arimo"/>
                  <a:ea typeface="Arimo"/>
                  <a:cs typeface="Arimo"/>
                  <a:sym typeface="Arimo"/>
                </a:rPr>
                <a:t>Home Screen</a:t>
              </a:r>
            </a:p>
          </p:txBody>
        </p:sp>
      </p:grpSp>
      <p:sp>
        <p:nvSpPr>
          <p:cNvPr name="Freeform 8" id="8" descr="preencoded.png"/>
          <p:cNvSpPr/>
          <p:nvPr/>
        </p:nvSpPr>
        <p:spPr>
          <a:xfrm flipH="false" flipV="false" rot="0">
            <a:off x="7846665" y="1824186"/>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4"/>
            <a:stretch>
              <a:fillRect l="-46" t="0" r="-46" b="0"/>
            </a:stretch>
          </a:blipFill>
        </p:spPr>
      </p:sp>
      <p:grpSp>
        <p:nvGrpSpPr>
          <p:cNvPr name="Group 9" id="9"/>
          <p:cNvGrpSpPr/>
          <p:nvPr/>
        </p:nvGrpSpPr>
        <p:grpSpPr>
          <a:xfrm rot="0">
            <a:off x="9315450" y="2050107"/>
            <a:ext cx="2824758" cy="353020"/>
            <a:chOff x="0" y="0"/>
            <a:chExt cx="3766343" cy="470693"/>
          </a:xfrm>
        </p:grpSpPr>
        <p:sp>
          <p:nvSpPr>
            <p:cNvPr name="Freeform 10" id="10"/>
            <p:cNvSpPr/>
            <p:nvPr/>
          </p:nvSpPr>
          <p:spPr>
            <a:xfrm flipH="false" flipV="false" rot="0">
              <a:off x="0" y="0"/>
              <a:ext cx="3766343" cy="470693"/>
            </a:xfrm>
            <a:custGeom>
              <a:avLst/>
              <a:gdLst/>
              <a:ahLst/>
              <a:cxnLst/>
              <a:rect r="r" b="b" t="t" l="l"/>
              <a:pathLst>
                <a:path h="470693" w="3766343">
                  <a:moveTo>
                    <a:pt x="0" y="0"/>
                  </a:moveTo>
                  <a:lnTo>
                    <a:pt x="3766343" y="0"/>
                  </a:lnTo>
                  <a:lnTo>
                    <a:pt x="3766343" y="470693"/>
                  </a:lnTo>
                  <a:lnTo>
                    <a:pt x="0" y="470693"/>
                  </a:lnTo>
                  <a:close/>
                </a:path>
              </a:pathLst>
            </a:custGeom>
            <a:solidFill>
              <a:srgbClr val="000000">
                <a:alpha val="0"/>
              </a:srgbClr>
            </a:solidFill>
          </p:spPr>
        </p:sp>
        <p:sp>
          <p:nvSpPr>
            <p:cNvPr name="TextBox 11" id="11"/>
            <p:cNvSpPr txBox="true"/>
            <p:nvPr/>
          </p:nvSpPr>
          <p:spPr>
            <a:xfrm>
              <a:off x="0" y="-28575"/>
              <a:ext cx="3766343" cy="499268"/>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Celestial List</a:t>
              </a:r>
            </a:p>
          </p:txBody>
        </p:sp>
      </p:grpSp>
      <p:grpSp>
        <p:nvGrpSpPr>
          <p:cNvPr name="Group 12" id="12"/>
          <p:cNvGrpSpPr/>
          <p:nvPr/>
        </p:nvGrpSpPr>
        <p:grpSpPr>
          <a:xfrm rot="0">
            <a:off x="9315450" y="2538710"/>
            <a:ext cx="7983885" cy="722710"/>
            <a:chOff x="0" y="0"/>
            <a:chExt cx="10645180" cy="963613"/>
          </a:xfrm>
        </p:grpSpPr>
        <p:sp>
          <p:nvSpPr>
            <p:cNvPr name="Freeform 13" id="13"/>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14" id="14"/>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Displays a scrollable list of celestial bodies, providing an overview of available space objects.</a:t>
              </a:r>
            </a:p>
          </p:txBody>
        </p:sp>
      </p:grpSp>
      <p:sp>
        <p:nvSpPr>
          <p:cNvPr name="Freeform 15" id="15" descr="preencoded.png"/>
          <p:cNvSpPr/>
          <p:nvPr/>
        </p:nvSpPr>
        <p:spPr>
          <a:xfrm flipH="false" flipV="false" rot="0">
            <a:off x="7846665" y="3487341"/>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5"/>
            <a:stretch>
              <a:fillRect l="-46" t="0" r="-46" b="0"/>
            </a:stretch>
          </a:blipFill>
        </p:spPr>
      </p:sp>
      <p:grpSp>
        <p:nvGrpSpPr>
          <p:cNvPr name="Group 16" id="16"/>
          <p:cNvGrpSpPr/>
          <p:nvPr/>
        </p:nvGrpSpPr>
        <p:grpSpPr>
          <a:xfrm rot="0">
            <a:off x="9315450" y="3713261"/>
            <a:ext cx="2824758" cy="353020"/>
            <a:chOff x="0" y="0"/>
            <a:chExt cx="3766343" cy="470693"/>
          </a:xfrm>
        </p:grpSpPr>
        <p:sp>
          <p:nvSpPr>
            <p:cNvPr name="Freeform 17" id="17"/>
            <p:cNvSpPr/>
            <p:nvPr/>
          </p:nvSpPr>
          <p:spPr>
            <a:xfrm flipH="false" flipV="false" rot="0">
              <a:off x="0" y="0"/>
              <a:ext cx="3766343" cy="470693"/>
            </a:xfrm>
            <a:custGeom>
              <a:avLst/>
              <a:gdLst/>
              <a:ahLst/>
              <a:cxnLst/>
              <a:rect r="r" b="b" t="t" l="l"/>
              <a:pathLst>
                <a:path h="470693" w="3766343">
                  <a:moveTo>
                    <a:pt x="0" y="0"/>
                  </a:moveTo>
                  <a:lnTo>
                    <a:pt x="3766343" y="0"/>
                  </a:lnTo>
                  <a:lnTo>
                    <a:pt x="3766343" y="470693"/>
                  </a:lnTo>
                  <a:lnTo>
                    <a:pt x="0" y="470693"/>
                  </a:lnTo>
                  <a:close/>
                </a:path>
              </a:pathLst>
            </a:custGeom>
            <a:solidFill>
              <a:srgbClr val="000000">
                <a:alpha val="0"/>
              </a:srgbClr>
            </a:solidFill>
          </p:spPr>
        </p:sp>
        <p:sp>
          <p:nvSpPr>
            <p:cNvPr name="TextBox 18" id="18"/>
            <p:cNvSpPr txBox="true"/>
            <p:nvPr/>
          </p:nvSpPr>
          <p:spPr>
            <a:xfrm>
              <a:off x="0" y="-28575"/>
              <a:ext cx="3766343" cy="499268"/>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Custom Icons</a:t>
              </a:r>
            </a:p>
          </p:txBody>
        </p:sp>
      </p:grpSp>
      <p:grpSp>
        <p:nvGrpSpPr>
          <p:cNvPr name="Group 19" id="19"/>
          <p:cNvGrpSpPr/>
          <p:nvPr/>
        </p:nvGrpSpPr>
        <p:grpSpPr>
          <a:xfrm rot="0">
            <a:off x="9315450" y="4201865"/>
            <a:ext cx="7983885" cy="722710"/>
            <a:chOff x="0" y="0"/>
            <a:chExt cx="10645180" cy="963613"/>
          </a:xfrm>
        </p:grpSpPr>
        <p:sp>
          <p:nvSpPr>
            <p:cNvPr name="Freeform 20" id="20"/>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21" id="21"/>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Uses unique icons based on celestial body types, enhancing visual appeal and recognition.</a:t>
              </a:r>
            </a:p>
          </p:txBody>
        </p:sp>
      </p:grpSp>
      <p:sp>
        <p:nvSpPr>
          <p:cNvPr name="Freeform 22" id="22" descr="preencoded.png"/>
          <p:cNvSpPr/>
          <p:nvPr/>
        </p:nvSpPr>
        <p:spPr>
          <a:xfrm flipH="false" flipV="false" rot="0">
            <a:off x="7846665" y="5150495"/>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6"/>
            <a:stretch>
              <a:fillRect l="-46" t="0" r="-46" b="0"/>
            </a:stretch>
          </a:blipFill>
        </p:spPr>
      </p:sp>
      <p:grpSp>
        <p:nvGrpSpPr>
          <p:cNvPr name="Group 23" id="23"/>
          <p:cNvGrpSpPr/>
          <p:nvPr/>
        </p:nvGrpSpPr>
        <p:grpSpPr>
          <a:xfrm rot="0">
            <a:off x="9315450" y="5376416"/>
            <a:ext cx="2824758" cy="353020"/>
            <a:chOff x="0" y="0"/>
            <a:chExt cx="3766343" cy="470693"/>
          </a:xfrm>
        </p:grpSpPr>
        <p:sp>
          <p:nvSpPr>
            <p:cNvPr name="Freeform 24" id="24"/>
            <p:cNvSpPr/>
            <p:nvPr/>
          </p:nvSpPr>
          <p:spPr>
            <a:xfrm flipH="false" flipV="false" rot="0">
              <a:off x="0" y="0"/>
              <a:ext cx="3766343" cy="470693"/>
            </a:xfrm>
            <a:custGeom>
              <a:avLst/>
              <a:gdLst/>
              <a:ahLst/>
              <a:cxnLst/>
              <a:rect r="r" b="b" t="t" l="l"/>
              <a:pathLst>
                <a:path h="470693" w="3766343">
                  <a:moveTo>
                    <a:pt x="0" y="0"/>
                  </a:moveTo>
                  <a:lnTo>
                    <a:pt x="3766343" y="0"/>
                  </a:lnTo>
                  <a:lnTo>
                    <a:pt x="3766343" y="470693"/>
                  </a:lnTo>
                  <a:lnTo>
                    <a:pt x="0" y="470693"/>
                  </a:lnTo>
                  <a:close/>
                </a:path>
              </a:pathLst>
            </a:custGeom>
            <a:solidFill>
              <a:srgbClr val="000000">
                <a:alpha val="0"/>
              </a:srgbClr>
            </a:solidFill>
          </p:spPr>
        </p:sp>
        <p:sp>
          <p:nvSpPr>
            <p:cNvPr name="TextBox 25" id="25"/>
            <p:cNvSpPr txBox="true"/>
            <p:nvPr/>
          </p:nvSpPr>
          <p:spPr>
            <a:xfrm>
              <a:off x="0" y="-28575"/>
              <a:ext cx="3766343" cy="499268"/>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Description Preview</a:t>
              </a:r>
            </a:p>
          </p:txBody>
        </p:sp>
      </p:grpSp>
      <p:grpSp>
        <p:nvGrpSpPr>
          <p:cNvPr name="Group 26" id="26"/>
          <p:cNvGrpSpPr/>
          <p:nvPr/>
        </p:nvGrpSpPr>
        <p:grpSpPr>
          <a:xfrm rot="0">
            <a:off x="9315450" y="5865019"/>
            <a:ext cx="7983885" cy="722710"/>
            <a:chOff x="0" y="0"/>
            <a:chExt cx="10645180" cy="963613"/>
          </a:xfrm>
        </p:grpSpPr>
        <p:sp>
          <p:nvSpPr>
            <p:cNvPr name="Freeform 27" id="27"/>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28" id="28"/>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Presents a concise description for each item, enticing users to explore further details.</a:t>
              </a:r>
            </a:p>
          </p:txBody>
        </p:sp>
      </p:grpSp>
      <p:sp>
        <p:nvSpPr>
          <p:cNvPr name="Freeform 29" id="29" descr="preencoded.png"/>
          <p:cNvSpPr/>
          <p:nvPr/>
        </p:nvSpPr>
        <p:spPr>
          <a:xfrm flipH="false" flipV="false" rot="0">
            <a:off x="7846665" y="6813649"/>
            <a:ext cx="1129904" cy="1355824"/>
          </a:xfrm>
          <a:custGeom>
            <a:avLst/>
            <a:gdLst/>
            <a:ahLst/>
            <a:cxnLst/>
            <a:rect r="r" b="b" t="t" l="l"/>
            <a:pathLst>
              <a:path h="1355824" w="1129904">
                <a:moveTo>
                  <a:pt x="0" y="0"/>
                </a:moveTo>
                <a:lnTo>
                  <a:pt x="1129904" y="0"/>
                </a:lnTo>
                <a:lnTo>
                  <a:pt x="1129904" y="1355823"/>
                </a:lnTo>
                <a:lnTo>
                  <a:pt x="0" y="1355823"/>
                </a:lnTo>
                <a:lnTo>
                  <a:pt x="0" y="0"/>
                </a:lnTo>
                <a:close/>
              </a:path>
            </a:pathLst>
          </a:custGeom>
          <a:blipFill>
            <a:blip r:embed="rId7"/>
            <a:stretch>
              <a:fillRect l="-279" t="0" r="-279" b="0"/>
            </a:stretch>
          </a:blipFill>
        </p:spPr>
      </p:sp>
      <p:grpSp>
        <p:nvGrpSpPr>
          <p:cNvPr name="Group 30" id="30"/>
          <p:cNvGrpSpPr/>
          <p:nvPr/>
        </p:nvGrpSpPr>
        <p:grpSpPr>
          <a:xfrm rot="0">
            <a:off x="9315450" y="7039570"/>
            <a:ext cx="2824758" cy="353020"/>
            <a:chOff x="0" y="0"/>
            <a:chExt cx="3766343" cy="470693"/>
          </a:xfrm>
        </p:grpSpPr>
        <p:sp>
          <p:nvSpPr>
            <p:cNvPr name="Freeform 31" id="31"/>
            <p:cNvSpPr/>
            <p:nvPr/>
          </p:nvSpPr>
          <p:spPr>
            <a:xfrm flipH="false" flipV="false" rot="0">
              <a:off x="0" y="0"/>
              <a:ext cx="3766343" cy="470693"/>
            </a:xfrm>
            <a:custGeom>
              <a:avLst/>
              <a:gdLst/>
              <a:ahLst/>
              <a:cxnLst/>
              <a:rect r="r" b="b" t="t" l="l"/>
              <a:pathLst>
                <a:path h="470693" w="3766343">
                  <a:moveTo>
                    <a:pt x="0" y="0"/>
                  </a:moveTo>
                  <a:lnTo>
                    <a:pt x="3766343" y="0"/>
                  </a:lnTo>
                  <a:lnTo>
                    <a:pt x="3766343" y="470693"/>
                  </a:lnTo>
                  <a:lnTo>
                    <a:pt x="0" y="470693"/>
                  </a:lnTo>
                  <a:close/>
                </a:path>
              </a:pathLst>
            </a:custGeom>
            <a:solidFill>
              <a:srgbClr val="000000">
                <a:alpha val="0"/>
              </a:srgbClr>
            </a:solidFill>
          </p:spPr>
        </p:sp>
        <p:sp>
          <p:nvSpPr>
            <p:cNvPr name="TextBox 32" id="32"/>
            <p:cNvSpPr txBox="true"/>
            <p:nvPr/>
          </p:nvSpPr>
          <p:spPr>
            <a:xfrm>
              <a:off x="0" y="-28575"/>
              <a:ext cx="3766343" cy="499268"/>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Smooth Animations</a:t>
              </a:r>
            </a:p>
          </p:txBody>
        </p:sp>
      </p:grpSp>
      <p:grpSp>
        <p:nvGrpSpPr>
          <p:cNvPr name="Group 33" id="33"/>
          <p:cNvGrpSpPr/>
          <p:nvPr/>
        </p:nvGrpSpPr>
        <p:grpSpPr>
          <a:xfrm rot="0">
            <a:off x="9315450" y="7528172"/>
            <a:ext cx="7983885" cy="361355"/>
            <a:chOff x="0" y="0"/>
            <a:chExt cx="10645180" cy="481807"/>
          </a:xfrm>
        </p:grpSpPr>
        <p:sp>
          <p:nvSpPr>
            <p:cNvPr name="Freeform 34" id="34"/>
            <p:cNvSpPr/>
            <p:nvPr/>
          </p:nvSpPr>
          <p:spPr>
            <a:xfrm flipH="false" flipV="false" rot="0">
              <a:off x="0" y="0"/>
              <a:ext cx="10645180" cy="481807"/>
            </a:xfrm>
            <a:custGeom>
              <a:avLst/>
              <a:gdLst/>
              <a:ahLst/>
              <a:cxnLst/>
              <a:rect r="r" b="b" t="t" l="l"/>
              <a:pathLst>
                <a:path h="481807" w="10645180">
                  <a:moveTo>
                    <a:pt x="0" y="0"/>
                  </a:moveTo>
                  <a:lnTo>
                    <a:pt x="10645180" y="0"/>
                  </a:lnTo>
                  <a:lnTo>
                    <a:pt x="10645180" y="481807"/>
                  </a:lnTo>
                  <a:lnTo>
                    <a:pt x="0" y="481807"/>
                  </a:lnTo>
                  <a:close/>
                </a:path>
              </a:pathLst>
            </a:custGeom>
            <a:solidFill>
              <a:srgbClr val="000000">
                <a:alpha val="0"/>
              </a:srgbClr>
            </a:solidFill>
          </p:spPr>
        </p:sp>
        <p:sp>
          <p:nvSpPr>
            <p:cNvPr name="TextBox 35" id="35"/>
            <p:cNvSpPr txBox="true"/>
            <p:nvPr/>
          </p:nvSpPr>
          <p:spPr>
            <a:xfrm>
              <a:off x="0" y="-76200"/>
              <a:ext cx="10645180" cy="558007"/>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Incorporates subtle animations for a polished and engaging user experience.</a:t>
              </a:r>
            </a:p>
          </p:txBody>
        </p:sp>
      </p:grpSp>
      <p:grpSp>
        <p:nvGrpSpPr>
          <p:cNvPr name="Group 36" id="36"/>
          <p:cNvGrpSpPr/>
          <p:nvPr/>
        </p:nvGrpSpPr>
        <p:grpSpPr>
          <a:xfrm rot="0">
            <a:off x="7846665" y="8423672"/>
            <a:ext cx="9452670" cy="1084064"/>
            <a:chOff x="0" y="0"/>
            <a:chExt cx="12603560" cy="1445418"/>
          </a:xfrm>
        </p:grpSpPr>
        <p:sp>
          <p:nvSpPr>
            <p:cNvPr name="Freeform 37" id="37"/>
            <p:cNvSpPr/>
            <p:nvPr/>
          </p:nvSpPr>
          <p:spPr>
            <a:xfrm flipH="false" flipV="false" rot="0">
              <a:off x="0" y="0"/>
              <a:ext cx="12603560" cy="1445418"/>
            </a:xfrm>
            <a:custGeom>
              <a:avLst/>
              <a:gdLst/>
              <a:ahLst/>
              <a:cxnLst/>
              <a:rect r="r" b="b" t="t" l="l"/>
              <a:pathLst>
                <a:path h="1445418" w="12603560">
                  <a:moveTo>
                    <a:pt x="0" y="0"/>
                  </a:moveTo>
                  <a:lnTo>
                    <a:pt x="12603560" y="0"/>
                  </a:lnTo>
                  <a:lnTo>
                    <a:pt x="12603560" y="1445418"/>
                  </a:lnTo>
                  <a:lnTo>
                    <a:pt x="0" y="1445418"/>
                  </a:lnTo>
                  <a:close/>
                </a:path>
              </a:pathLst>
            </a:custGeom>
            <a:solidFill>
              <a:srgbClr val="000000">
                <a:alpha val="0"/>
              </a:srgbClr>
            </a:solidFill>
          </p:spPr>
        </p:sp>
        <p:sp>
          <p:nvSpPr>
            <p:cNvPr name="TextBox 38" id="38"/>
            <p:cNvSpPr txBox="true"/>
            <p:nvPr/>
          </p:nvSpPr>
          <p:spPr>
            <a:xfrm>
              <a:off x="0" y="-76200"/>
              <a:ext cx="12603560" cy="1521618"/>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The home screen provides an intuitive and visually appealing way to browse the cosmos, making it easy for users to discover and learn about different celestial bodies. Responsive layouts ensure the app looks great on various screen sizes and orientations.</a:t>
              </a:r>
            </a:p>
          </p:txBody>
        </p:sp>
      </p:grpSp>
      <p:sp>
        <p:nvSpPr>
          <p:cNvPr name="Freeform 39" id="39"/>
          <p:cNvSpPr/>
          <p:nvPr/>
        </p:nvSpPr>
        <p:spPr>
          <a:xfrm flipH="false" flipV="false" rot="0">
            <a:off x="0" y="62947"/>
            <a:ext cx="5723491" cy="10175096"/>
          </a:xfrm>
          <a:custGeom>
            <a:avLst/>
            <a:gdLst/>
            <a:ahLst/>
            <a:cxnLst/>
            <a:rect r="r" b="b" t="t" l="l"/>
            <a:pathLst>
              <a:path h="10175096" w="5723491">
                <a:moveTo>
                  <a:pt x="0" y="0"/>
                </a:moveTo>
                <a:lnTo>
                  <a:pt x="5723491" y="0"/>
                </a:lnTo>
                <a:lnTo>
                  <a:pt x="5723491" y="10175096"/>
                </a:lnTo>
                <a:lnTo>
                  <a:pt x="0" y="10175096"/>
                </a:lnTo>
                <a:lnTo>
                  <a:pt x="0" y="0"/>
                </a:lnTo>
                <a:close/>
              </a:path>
            </a:pathLst>
          </a:custGeom>
          <a:blipFill>
            <a:blip r:embed="rId8"/>
            <a:stretch>
              <a:fillRect l="-33499" t="0" r="-2659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5" id="5"/>
          <p:cNvGrpSpPr/>
          <p:nvPr/>
        </p:nvGrpSpPr>
        <p:grpSpPr>
          <a:xfrm rot="0">
            <a:off x="7846665" y="779115"/>
            <a:ext cx="5649665" cy="903974"/>
            <a:chOff x="0" y="0"/>
            <a:chExt cx="7532887" cy="1205298"/>
          </a:xfrm>
        </p:grpSpPr>
        <p:sp>
          <p:nvSpPr>
            <p:cNvPr name="Freeform 6" id="6"/>
            <p:cNvSpPr/>
            <p:nvPr/>
          </p:nvSpPr>
          <p:spPr>
            <a:xfrm flipH="false" flipV="false" rot="0">
              <a:off x="0" y="0"/>
              <a:ext cx="7532887" cy="1205298"/>
            </a:xfrm>
            <a:custGeom>
              <a:avLst/>
              <a:gdLst/>
              <a:ahLst/>
              <a:cxnLst/>
              <a:rect r="r" b="b" t="t" l="l"/>
              <a:pathLst>
                <a:path h="1205298" w="7532887">
                  <a:moveTo>
                    <a:pt x="0" y="0"/>
                  </a:moveTo>
                  <a:lnTo>
                    <a:pt x="7532887" y="0"/>
                  </a:lnTo>
                  <a:lnTo>
                    <a:pt x="7532887" y="1205298"/>
                  </a:lnTo>
                  <a:lnTo>
                    <a:pt x="0" y="1205298"/>
                  </a:lnTo>
                  <a:close/>
                </a:path>
              </a:pathLst>
            </a:custGeom>
            <a:solidFill>
              <a:srgbClr val="000000">
                <a:alpha val="0"/>
              </a:srgbClr>
            </a:solidFill>
          </p:spPr>
        </p:sp>
        <p:sp>
          <p:nvSpPr>
            <p:cNvPr name="TextBox 7" id="7"/>
            <p:cNvSpPr txBox="true"/>
            <p:nvPr/>
          </p:nvSpPr>
          <p:spPr>
            <a:xfrm>
              <a:off x="0" y="-38100"/>
              <a:ext cx="7532887" cy="1243398"/>
            </a:xfrm>
            <a:prstGeom prst="rect">
              <a:avLst/>
            </a:prstGeom>
          </p:spPr>
          <p:txBody>
            <a:bodyPr anchor="t" rtlCol="false" tIns="0" lIns="0" bIns="0" rIns="0"/>
            <a:lstStyle/>
            <a:p>
              <a:pPr algn="l">
                <a:lnSpc>
                  <a:spcPts val="5500"/>
                </a:lnSpc>
              </a:pPr>
              <a:r>
                <a:rPr lang="en-US" sz="4437">
                  <a:solidFill>
                    <a:srgbClr val="312F2B"/>
                  </a:solidFill>
                  <a:latin typeface="Arimo"/>
                  <a:ea typeface="Arimo"/>
                  <a:cs typeface="Arimo"/>
                  <a:sym typeface="Arimo"/>
                </a:rPr>
                <a:t>D</a:t>
              </a:r>
              <a:r>
                <a:rPr lang="en-US" sz="4437">
                  <a:solidFill>
                    <a:srgbClr val="312F2B"/>
                  </a:solidFill>
                  <a:latin typeface="Arimo"/>
                  <a:ea typeface="Arimo"/>
                  <a:cs typeface="Arimo"/>
                  <a:sym typeface="Arimo"/>
                </a:rPr>
                <a:t>etails Screen</a:t>
              </a:r>
            </a:p>
          </p:txBody>
        </p:sp>
      </p:grpSp>
      <p:sp>
        <p:nvSpPr>
          <p:cNvPr name="Freeform 8" id="8" descr="preencoded.png"/>
          <p:cNvSpPr/>
          <p:nvPr/>
        </p:nvSpPr>
        <p:spPr>
          <a:xfrm flipH="false" flipV="false" rot="0">
            <a:off x="7846665" y="1824186"/>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4"/>
            <a:stretch>
              <a:fillRect l="-46" t="0" r="-46" b="0"/>
            </a:stretch>
          </a:blipFill>
        </p:spPr>
      </p:sp>
      <p:grpSp>
        <p:nvGrpSpPr>
          <p:cNvPr name="Group 9" id="9"/>
          <p:cNvGrpSpPr/>
          <p:nvPr/>
        </p:nvGrpSpPr>
        <p:grpSpPr>
          <a:xfrm rot="0">
            <a:off x="9315450" y="2050107"/>
            <a:ext cx="2824758" cy="488603"/>
            <a:chOff x="0" y="0"/>
            <a:chExt cx="3766343" cy="651470"/>
          </a:xfrm>
        </p:grpSpPr>
        <p:sp>
          <p:nvSpPr>
            <p:cNvPr name="Freeform 10" id="10"/>
            <p:cNvSpPr/>
            <p:nvPr/>
          </p:nvSpPr>
          <p:spPr>
            <a:xfrm flipH="false" flipV="false" rot="0">
              <a:off x="0" y="0"/>
              <a:ext cx="3766343" cy="651470"/>
            </a:xfrm>
            <a:custGeom>
              <a:avLst/>
              <a:gdLst/>
              <a:ahLst/>
              <a:cxnLst/>
              <a:rect r="r" b="b" t="t" l="l"/>
              <a:pathLst>
                <a:path h="651470" w="3766343">
                  <a:moveTo>
                    <a:pt x="0" y="0"/>
                  </a:moveTo>
                  <a:lnTo>
                    <a:pt x="3766343" y="0"/>
                  </a:lnTo>
                  <a:lnTo>
                    <a:pt x="3766343" y="651470"/>
                  </a:lnTo>
                  <a:lnTo>
                    <a:pt x="0" y="651470"/>
                  </a:lnTo>
                  <a:close/>
                </a:path>
              </a:pathLst>
            </a:custGeom>
            <a:solidFill>
              <a:srgbClr val="000000">
                <a:alpha val="0"/>
              </a:srgbClr>
            </a:solidFill>
          </p:spPr>
        </p:sp>
        <p:sp>
          <p:nvSpPr>
            <p:cNvPr name="TextBox 11" id="11"/>
            <p:cNvSpPr txBox="true"/>
            <p:nvPr/>
          </p:nvSpPr>
          <p:spPr>
            <a:xfrm>
              <a:off x="0" y="-28575"/>
              <a:ext cx="3766343" cy="68004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H</a:t>
              </a:r>
              <a:r>
                <a:rPr lang="en-US" sz="2187">
                  <a:solidFill>
                    <a:srgbClr val="272525"/>
                  </a:solidFill>
                  <a:latin typeface="Arimo"/>
                  <a:ea typeface="Arimo"/>
                  <a:cs typeface="Arimo"/>
                  <a:sym typeface="Arimo"/>
                </a:rPr>
                <a:t>igh-Quality Image</a:t>
              </a:r>
            </a:p>
          </p:txBody>
        </p:sp>
      </p:grpSp>
      <p:grpSp>
        <p:nvGrpSpPr>
          <p:cNvPr name="Group 12" id="12"/>
          <p:cNvGrpSpPr/>
          <p:nvPr/>
        </p:nvGrpSpPr>
        <p:grpSpPr>
          <a:xfrm rot="0">
            <a:off x="9315450" y="2538710"/>
            <a:ext cx="7983885" cy="722710"/>
            <a:chOff x="0" y="0"/>
            <a:chExt cx="10645180" cy="963613"/>
          </a:xfrm>
        </p:grpSpPr>
        <p:sp>
          <p:nvSpPr>
            <p:cNvPr name="Freeform 13" id="13"/>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14" id="14"/>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P</a:t>
              </a:r>
              <a:r>
                <a:rPr lang="en-US" sz="1750">
                  <a:solidFill>
                    <a:srgbClr val="272525"/>
                  </a:solidFill>
                  <a:latin typeface="Lato"/>
                  <a:ea typeface="Lato"/>
                  <a:cs typeface="Lato"/>
                  <a:sym typeface="Lato"/>
                </a:rPr>
                <a:t>resents a stunning, high-resolution image of the selected celestial body.</a:t>
              </a:r>
            </a:p>
          </p:txBody>
        </p:sp>
      </p:grpSp>
      <p:sp>
        <p:nvSpPr>
          <p:cNvPr name="Freeform 15" id="15" descr="preencoded.png"/>
          <p:cNvSpPr/>
          <p:nvPr/>
        </p:nvSpPr>
        <p:spPr>
          <a:xfrm flipH="false" flipV="false" rot="0">
            <a:off x="7846665" y="3487341"/>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5"/>
            <a:stretch>
              <a:fillRect l="-46" t="0" r="-46" b="0"/>
            </a:stretch>
          </a:blipFill>
        </p:spPr>
      </p:sp>
      <p:grpSp>
        <p:nvGrpSpPr>
          <p:cNvPr name="Group 16" id="16"/>
          <p:cNvGrpSpPr/>
          <p:nvPr/>
        </p:nvGrpSpPr>
        <p:grpSpPr>
          <a:xfrm rot="0">
            <a:off x="9315450" y="3713261"/>
            <a:ext cx="2824758" cy="488604"/>
            <a:chOff x="0" y="0"/>
            <a:chExt cx="3766343" cy="651472"/>
          </a:xfrm>
        </p:grpSpPr>
        <p:sp>
          <p:nvSpPr>
            <p:cNvPr name="Freeform 17" id="17"/>
            <p:cNvSpPr/>
            <p:nvPr/>
          </p:nvSpPr>
          <p:spPr>
            <a:xfrm flipH="false" flipV="false" rot="0">
              <a:off x="0" y="0"/>
              <a:ext cx="3766343" cy="651472"/>
            </a:xfrm>
            <a:custGeom>
              <a:avLst/>
              <a:gdLst/>
              <a:ahLst/>
              <a:cxnLst/>
              <a:rect r="r" b="b" t="t" l="l"/>
              <a:pathLst>
                <a:path h="651472" w="3766343">
                  <a:moveTo>
                    <a:pt x="0" y="0"/>
                  </a:moveTo>
                  <a:lnTo>
                    <a:pt x="3766343" y="0"/>
                  </a:lnTo>
                  <a:lnTo>
                    <a:pt x="3766343" y="651472"/>
                  </a:lnTo>
                  <a:lnTo>
                    <a:pt x="0" y="651472"/>
                  </a:lnTo>
                  <a:close/>
                </a:path>
              </a:pathLst>
            </a:custGeom>
            <a:solidFill>
              <a:srgbClr val="000000">
                <a:alpha val="0"/>
              </a:srgbClr>
            </a:solidFill>
          </p:spPr>
        </p:sp>
        <p:sp>
          <p:nvSpPr>
            <p:cNvPr name="TextBox 18" id="18"/>
            <p:cNvSpPr txBox="true"/>
            <p:nvPr/>
          </p:nvSpPr>
          <p:spPr>
            <a:xfrm>
              <a:off x="0" y="-28575"/>
              <a:ext cx="3766343" cy="680047"/>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Complete Description</a:t>
              </a:r>
            </a:p>
          </p:txBody>
        </p:sp>
      </p:grpSp>
      <p:grpSp>
        <p:nvGrpSpPr>
          <p:cNvPr name="Group 19" id="19"/>
          <p:cNvGrpSpPr/>
          <p:nvPr/>
        </p:nvGrpSpPr>
        <p:grpSpPr>
          <a:xfrm rot="0">
            <a:off x="9315450" y="4201865"/>
            <a:ext cx="7983885" cy="722710"/>
            <a:chOff x="0" y="0"/>
            <a:chExt cx="10645180" cy="963613"/>
          </a:xfrm>
        </p:grpSpPr>
        <p:sp>
          <p:nvSpPr>
            <p:cNvPr name="Freeform 20" id="20"/>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21" id="21"/>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Prov</a:t>
              </a:r>
              <a:r>
                <a:rPr lang="en-US" sz="1750">
                  <a:solidFill>
                    <a:srgbClr val="272525"/>
                  </a:solidFill>
                  <a:latin typeface="Lato"/>
                  <a:ea typeface="Lato"/>
                  <a:cs typeface="Lato"/>
                  <a:sym typeface="Lato"/>
                </a:rPr>
                <a:t>ides a detailed narrative describing the object's characteristics and significance.</a:t>
              </a:r>
            </a:p>
          </p:txBody>
        </p:sp>
      </p:grpSp>
      <p:sp>
        <p:nvSpPr>
          <p:cNvPr name="Freeform 22" id="22" descr="preencoded.png"/>
          <p:cNvSpPr/>
          <p:nvPr/>
        </p:nvSpPr>
        <p:spPr>
          <a:xfrm flipH="false" flipV="false" rot="0">
            <a:off x="7846665" y="5150495"/>
            <a:ext cx="1129904" cy="1663154"/>
          </a:xfrm>
          <a:custGeom>
            <a:avLst/>
            <a:gdLst/>
            <a:ahLst/>
            <a:cxnLst/>
            <a:rect r="r" b="b" t="t" l="l"/>
            <a:pathLst>
              <a:path h="1663154" w="1129904">
                <a:moveTo>
                  <a:pt x="0" y="0"/>
                </a:moveTo>
                <a:lnTo>
                  <a:pt x="1129904" y="0"/>
                </a:lnTo>
                <a:lnTo>
                  <a:pt x="1129904" y="1663154"/>
                </a:lnTo>
                <a:lnTo>
                  <a:pt x="0" y="1663154"/>
                </a:lnTo>
                <a:lnTo>
                  <a:pt x="0" y="0"/>
                </a:lnTo>
                <a:close/>
              </a:path>
            </a:pathLst>
          </a:custGeom>
          <a:blipFill>
            <a:blip r:embed="rId6"/>
            <a:stretch>
              <a:fillRect l="-46" t="0" r="-46" b="0"/>
            </a:stretch>
          </a:blipFill>
        </p:spPr>
      </p:sp>
      <p:grpSp>
        <p:nvGrpSpPr>
          <p:cNvPr name="Group 23" id="23"/>
          <p:cNvGrpSpPr/>
          <p:nvPr/>
        </p:nvGrpSpPr>
        <p:grpSpPr>
          <a:xfrm rot="0">
            <a:off x="9315450" y="5376416"/>
            <a:ext cx="2824758" cy="440836"/>
            <a:chOff x="0" y="0"/>
            <a:chExt cx="3766343" cy="587781"/>
          </a:xfrm>
        </p:grpSpPr>
        <p:sp>
          <p:nvSpPr>
            <p:cNvPr name="Freeform 24" id="24"/>
            <p:cNvSpPr/>
            <p:nvPr/>
          </p:nvSpPr>
          <p:spPr>
            <a:xfrm flipH="false" flipV="false" rot="0">
              <a:off x="0" y="0"/>
              <a:ext cx="3766343" cy="587781"/>
            </a:xfrm>
            <a:custGeom>
              <a:avLst/>
              <a:gdLst/>
              <a:ahLst/>
              <a:cxnLst/>
              <a:rect r="r" b="b" t="t" l="l"/>
              <a:pathLst>
                <a:path h="587781" w="3766343">
                  <a:moveTo>
                    <a:pt x="0" y="0"/>
                  </a:moveTo>
                  <a:lnTo>
                    <a:pt x="3766343" y="0"/>
                  </a:lnTo>
                  <a:lnTo>
                    <a:pt x="3766343" y="587781"/>
                  </a:lnTo>
                  <a:lnTo>
                    <a:pt x="0" y="587781"/>
                  </a:lnTo>
                  <a:close/>
                </a:path>
              </a:pathLst>
            </a:custGeom>
            <a:solidFill>
              <a:srgbClr val="000000">
                <a:alpha val="0"/>
              </a:srgbClr>
            </a:solidFill>
          </p:spPr>
        </p:sp>
        <p:sp>
          <p:nvSpPr>
            <p:cNvPr name="TextBox 25" id="25"/>
            <p:cNvSpPr txBox="true"/>
            <p:nvPr/>
          </p:nvSpPr>
          <p:spPr>
            <a:xfrm>
              <a:off x="0" y="-28575"/>
              <a:ext cx="3766343" cy="616356"/>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Int</a:t>
              </a:r>
              <a:r>
                <a:rPr lang="en-US" sz="2187">
                  <a:solidFill>
                    <a:srgbClr val="272525"/>
                  </a:solidFill>
                  <a:latin typeface="Arimo"/>
                  <a:ea typeface="Arimo"/>
                  <a:cs typeface="Arimo"/>
                  <a:sym typeface="Arimo"/>
                </a:rPr>
                <a:t>eresting Facts</a:t>
              </a:r>
            </a:p>
          </p:txBody>
        </p:sp>
      </p:grpSp>
      <p:grpSp>
        <p:nvGrpSpPr>
          <p:cNvPr name="Group 26" id="26"/>
          <p:cNvGrpSpPr/>
          <p:nvPr/>
        </p:nvGrpSpPr>
        <p:grpSpPr>
          <a:xfrm rot="0">
            <a:off x="9315450" y="5865019"/>
            <a:ext cx="7983885" cy="722710"/>
            <a:chOff x="0" y="0"/>
            <a:chExt cx="10645180" cy="963613"/>
          </a:xfrm>
        </p:grpSpPr>
        <p:sp>
          <p:nvSpPr>
            <p:cNvPr name="Freeform 27" id="27"/>
            <p:cNvSpPr/>
            <p:nvPr/>
          </p:nvSpPr>
          <p:spPr>
            <a:xfrm flipH="false" flipV="false" rot="0">
              <a:off x="0" y="0"/>
              <a:ext cx="10645180" cy="963613"/>
            </a:xfrm>
            <a:custGeom>
              <a:avLst/>
              <a:gdLst/>
              <a:ahLst/>
              <a:cxnLst/>
              <a:rect r="r" b="b" t="t" l="l"/>
              <a:pathLst>
                <a:path h="963613" w="10645180">
                  <a:moveTo>
                    <a:pt x="0" y="0"/>
                  </a:moveTo>
                  <a:lnTo>
                    <a:pt x="10645180" y="0"/>
                  </a:lnTo>
                  <a:lnTo>
                    <a:pt x="10645180" y="963613"/>
                  </a:lnTo>
                  <a:lnTo>
                    <a:pt x="0" y="963613"/>
                  </a:lnTo>
                  <a:close/>
                </a:path>
              </a:pathLst>
            </a:custGeom>
            <a:solidFill>
              <a:srgbClr val="000000">
                <a:alpha val="0"/>
              </a:srgbClr>
            </a:solidFill>
          </p:spPr>
        </p:sp>
        <p:sp>
          <p:nvSpPr>
            <p:cNvPr name="TextBox 28" id="28"/>
            <p:cNvSpPr txBox="true"/>
            <p:nvPr/>
          </p:nvSpPr>
          <p:spPr>
            <a:xfrm>
              <a:off x="0" y="-76200"/>
              <a:ext cx="10645180" cy="103981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Showca</a:t>
              </a:r>
              <a:r>
                <a:rPr lang="en-US" sz="1750">
                  <a:solidFill>
                    <a:srgbClr val="272525"/>
                  </a:solidFill>
                  <a:latin typeface="Lato"/>
                  <a:ea typeface="Lato"/>
                  <a:cs typeface="Lato"/>
                  <a:sym typeface="Lato"/>
                </a:rPr>
                <a:t>ses intriguing and lesser-known facts, enhancing the user’s learning experience.</a:t>
              </a:r>
            </a:p>
          </p:txBody>
        </p:sp>
      </p:grpSp>
      <p:sp>
        <p:nvSpPr>
          <p:cNvPr name="Freeform 29" id="29" descr="preencoded.png"/>
          <p:cNvSpPr/>
          <p:nvPr/>
        </p:nvSpPr>
        <p:spPr>
          <a:xfrm flipH="false" flipV="false" rot="0">
            <a:off x="7846665" y="6813649"/>
            <a:ext cx="1129904" cy="1355824"/>
          </a:xfrm>
          <a:custGeom>
            <a:avLst/>
            <a:gdLst/>
            <a:ahLst/>
            <a:cxnLst/>
            <a:rect r="r" b="b" t="t" l="l"/>
            <a:pathLst>
              <a:path h="1355824" w="1129904">
                <a:moveTo>
                  <a:pt x="0" y="0"/>
                </a:moveTo>
                <a:lnTo>
                  <a:pt x="1129904" y="0"/>
                </a:lnTo>
                <a:lnTo>
                  <a:pt x="1129904" y="1355823"/>
                </a:lnTo>
                <a:lnTo>
                  <a:pt x="0" y="1355823"/>
                </a:lnTo>
                <a:lnTo>
                  <a:pt x="0" y="0"/>
                </a:lnTo>
                <a:close/>
              </a:path>
            </a:pathLst>
          </a:custGeom>
          <a:blipFill>
            <a:blip r:embed="rId7"/>
            <a:stretch>
              <a:fillRect l="-279" t="0" r="-279" b="0"/>
            </a:stretch>
          </a:blipFill>
        </p:spPr>
      </p:sp>
      <p:grpSp>
        <p:nvGrpSpPr>
          <p:cNvPr name="Group 30" id="30"/>
          <p:cNvGrpSpPr/>
          <p:nvPr/>
        </p:nvGrpSpPr>
        <p:grpSpPr>
          <a:xfrm rot="0">
            <a:off x="9315450" y="7039570"/>
            <a:ext cx="2824758" cy="440836"/>
            <a:chOff x="0" y="0"/>
            <a:chExt cx="3766343" cy="587781"/>
          </a:xfrm>
        </p:grpSpPr>
        <p:sp>
          <p:nvSpPr>
            <p:cNvPr name="Freeform 31" id="31"/>
            <p:cNvSpPr/>
            <p:nvPr/>
          </p:nvSpPr>
          <p:spPr>
            <a:xfrm flipH="false" flipV="false" rot="0">
              <a:off x="0" y="0"/>
              <a:ext cx="3766343" cy="587781"/>
            </a:xfrm>
            <a:custGeom>
              <a:avLst/>
              <a:gdLst/>
              <a:ahLst/>
              <a:cxnLst/>
              <a:rect r="r" b="b" t="t" l="l"/>
              <a:pathLst>
                <a:path h="587781" w="3766343">
                  <a:moveTo>
                    <a:pt x="0" y="0"/>
                  </a:moveTo>
                  <a:lnTo>
                    <a:pt x="3766343" y="0"/>
                  </a:lnTo>
                  <a:lnTo>
                    <a:pt x="3766343" y="587781"/>
                  </a:lnTo>
                  <a:lnTo>
                    <a:pt x="0" y="587781"/>
                  </a:lnTo>
                  <a:close/>
                </a:path>
              </a:pathLst>
            </a:custGeom>
            <a:solidFill>
              <a:srgbClr val="000000">
                <a:alpha val="0"/>
              </a:srgbClr>
            </a:solidFill>
          </p:spPr>
        </p:sp>
        <p:sp>
          <p:nvSpPr>
            <p:cNvPr name="TextBox 32" id="32"/>
            <p:cNvSpPr txBox="true"/>
            <p:nvPr/>
          </p:nvSpPr>
          <p:spPr>
            <a:xfrm>
              <a:off x="0" y="-28575"/>
              <a:ext cx="3766343" cy="616356"/>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Tec</a:t>
              </a:r>
              <a:r>
                <a:rPr lang="en-US" sz="2187">
                  <a:solidFill>
                    <a:srgbClr val="272525"/>
                  </a:solidFill>
                  <a:latin typeface="Arimo"/>
                  <a:ea typeface="Arimo"/>
                  <a:cs typeface="Arimo"/>
                  <a:sym typeface="Arimo"/>
                </a:rPr>
                <a:t>hnical Specs</a:t>
              </a:r>
            </a:p>
          </p:txBody>
        </p:sp>
      </p:grpSp>
      <p:grpSp>
        <p:nvGrpSpPr>
          <p:cNvPr name="Group 33" id="33"/>
          <p:cNvGrpSpPr/>
          <p:nvPr/>
        </p:nvGrpSpPr>
        <p:grpSpPr>
          <a:xfrm rot="0">
            <a:off x="9315450" y="7528172"/>
            <a:ext cx="7983885" cy="361355"/>
            <a:chOff x="0" y="0"/>
            <a:chExt cx="10645180" cy="481807"/>
          </a:xfrm>
        </p:grpSpPr>
        <p:sp>
          <p:nvSpPr>
            <p:cNvPr name="Freeform 34" id="34"/>
            <p:cNvSpPr/>
            <p:nvPr/>
          </p:nvSpPr>
          <p:spPr>
            <a:xfrm flipH="false" flipV="false" rot="0">
              <a:off x="0" y="0"/>
              <a:ext cx="10645180" cy="481807"/>
            </a:xfrm>
            <a:custGeom>
              <a:avLst/>
              <a:gdLst/>
              <a:ahLst/>
              <a:cxnLst/>
              <a:rect r="r" b="b" t="t" l="l"/>
              <a:pathLst>
                <a:path h="481807" w="10645180">
                  <a:moveTo>
                    <a:pt x="0" y="0"/>
                  </a:moveTo>
                  <a:lnTo>
                    <a:pt x="10645180" y="0"/>
                  </a:lnTo>
                  <a:lnTo>
                    <a:pt x="10645180" y="481807"/>
                  </a:lnTo>
                  <a:lnTo>
                    <a:pt x="0" y="481807"/>
                  </a:lnTo>
                  <a:close/>
                </a:path>
              </a:pathLst>
            </a:custGeom>
            <a:solidFill>
              <a:srgbClr val="000000">
                <a:alpha val="0"/>
              </a:srgbClr>
            </a:solidFill>
          </p:spPr>
        </p:sp>
        <p:sp>
          <p:nvSpPr>
            <p:cNvPr name="TextBox 35" id="35"/>
            <p:cNvSpPr txBox="true"/>
            <p:nvPr/>
          </p:nvSpPr>
          <p:spPr>
            <a:xfrm>
              <a:off x="0" y="-76200"/>
              <a:ext cx="10645180" cy="558007"/>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Dis</a:t>
              </a:r>
              <a:r>
                <a:rPr lang="en-US" sz="1750">
                  <a:solidFill>
                    <a:srgbClr val="272525"/>
                  </a:solidFill>
                  <a:latin typeface="Lato"/>
                  <a:ea typeface="Lato"/>
                  <a:cs typeface="Lato"/>
                  <a:sym typeface="Lato"/>
                </a:rPr>
                <a:t>plays key technical specifications such as size, mass, and orbital parameters.</a:t>
              </a:r>
            </a:p>
          </p:txBody>
        </p:sp>
      </p:grpSp>
      <p:grpSp>
        <p:nvGrpSpPr>
          <p:cNvPr name="Group 36" id="36"/>
          <p:cNvGrpSpPr/>
          <p:nvPr/>
        </p:nvGrpSpPr>
        <p:grpSpPr>
          <a:xfrm rot="0">
            <a:off x="7846665" y="8423672"/>
            <a:ext cx="9452670" cy="1411669"/>
            <a:chOff x="0" y="0"/>
            <a:chExt cx="12603560" cy="1882225"/>
          </a:xfrm>
        </p:grpSpPr>
        <p:sp>
          <p:nvSpPr>
            <p:cNvPr name="Freeform 37" id="37"/>
            <p:cNvSpPr/>
            <p:nvPr/>
          </p:nvSpPr>
          <p:spPr>
            <a:xfrm flipH="false" flipV="false" rot="0">
              <a:off x="0" y="0"/>
              <a:ext cx="12603560" cy="1882225"/>
            </a:xfrm>
            <a:custGeom>
              <a:avLst/>
              <a:gdLst/>
              <a:ahLst/>
              <a:cxnLst/>
              <a:rect r="r" b="b" t="t" l="l"/>
              <a:pathLst>
                <a:path h="1882225" w="12603560">
                  <a:moveTo>
                    <a:pt x="0" y="0"/>
                  </a:moveTo>
                  <a:lnTo>
                    <a:pt x="12603560" y="0"/>
                  </a:lnTo>
                  <a:lnTo>
                    <a:pt x="12603560" y="1882225"/>
                  </a:lnTo>
                  <a:lnTo>
                    <a:pt x="0" y="1882225"/>
                  </a:lnTo>
                  <a:close/>
                </a:path>
              </a:pathLst>
            </a:custGeom>
            <a:solidFill>
              <a:srgbClr val="000000">
                <a:alpha val="0"/>
              </a:srgbClr>
            </a:solidFill>
          </p:spPr>
        </p:sp>
        <p:sp>
          <p:nvSpPr>
            <p:cNvPr name="TextBox 38" id="38"/>
            <p:cNvSpPr txBox="true"/>
            <p:nvPr/>
          </p:nvSpPr>
          <p:spPr>
            <a:xfrm>
              <a:off x="0" y="-76200"/>
              <a:ext cx="12603560" cy="1958425"/>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The details screen offers an immersive learning experience, combining visual appeal with comprehensive information to captivate users and deepen their understanding of space. Animated content further enhances engagement and provides a dynamic view of each celestial body.</a:t>
              </a:r>
            </a:p>
          </p:txBody>
        </p:sp>
      </p:grpSp>
      <p:sp>
        <p:nvSpPr>
          <p:cNvPr name="Freeform 39" id="39"/>
          <p:cNvSpPr/>
          <p:nvPr/>
        </p:nvSpPr>
        <p:spPr>
          <a:xfrm flipH="false" flipV="false" rot="0">
            <a:off x="0" y="0"/>
            <a:ext cx="5772902" cy="10262937"/>
          </a:xfrm>
          <a:custGeom>
            <a:avLst/>
            <a:gdLst/>
            <a:ahLst/>
            <a:cxnLst/>
            <a:rect r="r" b="b" t="t" l="l"/>
            <a:pathLst>
              <a:path h="10262937" w="5772902">
                <a:moveTo>
                  <a:pt x="0" y="0"/>
                </a:moveTo>
                <a:lnTo>
                  <a:pt x="5772902" y="0"/>
                </a:lnTo>
                <a:lnTo>
                  <a:pt x="5772902" y="10262937"/>
                </a:lnTo>
                <a:lnTo>
                  <a:pt x="0" y="10262937"/>
                </a:lnTo>
                <a:lnTo>
                  <a:pt x="0" y="0"/>
                </a:lnTo>
                <a:close/>
              </a:path>
            </a:pathLst>
          </a:custGeom>
          <a:blipFill>
            <a:blip r:embed="rId8"/>
            <a:stretch>
              <a:fillRect l="-26169" t="0" r="-26169"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5" id="5"/>
          <p:cNvGrpSpPr/>
          <p:nvPr/>
        </p:nvGrpSpPr>
        <p:grpSpPr>
          <a:xfrm rot="0">
            <a:off x="992238" y="948035"/>
            <a:ext cx="6807249" cy="905561"/>
            <a:chOff x="0" y="0"/>
            <a:chExt cx="9076332" cy="1207415"/>
          </a:xfrm>
        </p:grpSpPr>
        <p:sp>
          <p:nvSpPr>
            <p:cNvPr name="Freeform 6" id="6"/>
            <p:cNvSpPr/>
            <p:nvPr/>
          </p:nvSpPr>
          <p:spPr>
            <a:xfrm flipH="false" flipV="false" rot="0">
              <a:off x="0" y="0"/>
              <a:ext cx="9076331" cy="1207415"/>
            </a:xfrm>
            <a:custGeom>
              <a:avLst/>
              <a:gdLst/>
              <a:ahLst/>
              <a:cxnLst/>
              <a:rect r="r" b="b" t="t" l="l"/>
              <a:pathLst>
                <a:path h="1207415" w="9076331">
                  <a:moveTo>
                    <a:pt x="0" y="0"/>
                  </a:moveTo>
                  <a:lnTo>
                    <a:pt x="9076331" y="0"/>
                  </a:lnTo>
                  <a:lnTo>
                    <a:pt x="9076331" y="1207415"/>
                  </a:lnTo>
                  <a:lnTo>
                    <a:pt x="0" y="1207415"/>
                  </a:lnTo>
                  <a:close/>
                </a:path>
              </a:pathLst>
            </a:custGeom>
            <a:solidFill>
              <a:srgbClr val="000000">
                <a:alpha val="0"/>
              </a:srgbClr>
            </a:solidFill>
          </p:spPr>
        </p:sp>
        <p:sp>
          <p:nvSpPr>
            <p:cNvPr name="TextBox 7" id="7"/>
            <p:cNvSpPr txBox="true"/>
            <p:nvPr/>
          </p:nvSpPr>
          <p:spPr>
            <a:xfrm>
              <a:off x="0" y="-38100"/>
              <a:ext cx="9076332" cy="1245515"/>
            </a:xfrm>
            <a:prstGeom prst="rect">
              <a:avLst/>
            </a:prstGeom>
          </p:spPr>
          <p:txBody>
            <a:bodyPr anchor="t" rtlCol="false" tIns="0" lIns="0" bIns="0" rIns="0"/>
            <a:lstStyle/>
            <a:p>
              <a:pPr algn="l">
                <a:lnSpc>
                  <a:spcPts val="5562"/>
                </a:lnSpc>
              </a:pPr>
              <a:r>
                <a:rPr lang="en-US" sz="4437">
                  <a:solidFill>
                    <a:srgbClr val="312F2B"/>
                  </a:solidFill>
                  <a:latin typeface="Arimo"/>
                  <a:ea typeface="Arimo"/>
                  <a:cs typeface="Arimo"/>
                  <a:sym typeface="Arimo"/>
                </a:rPr>
                <a:t>Challenges &amp; Solutions</a:t>
              </a:r>
            </a:p>
          </p:txBody>
        </p:sp>
      </p:grpSp>
      <p:sp>
        <p:nvSpPr>
          <p:cNvPr name="Freeform 8" id="8" descr="preencoded.png"/>
          <p:cNvSpPr/>
          <p:nvPr/>
        </p:nvSpPr>
        <p:spPr>
          <a:xfrm flipH="false" flipV="false" rot="0">
            <a:off x="4395862" y="4201462"/>
            <a:ext cx="567035" cy="567035"/>
          </a:xfrm>
          <a:custGeom>
            <a:avLst/>
            <a:gdLst/>
            <a:ahLst/>
            <a:cxnLst/>
            <a:rect r="r" b="b" t="t" l="l"/>
            <a:pathLst>
              <a:path h="567035" w="567035">
                <a:moveTo>
                  <a:pt x="0" y="0"/>
                </a:moveTo>
                <a:lnTo>
                  <a:pt x="567035" y="0"/>
                </a:lnTo>
                <a:lnTo>
                  <a:pt x="567035" y="567035"/>
                </a:lnTo>
                <a:lnTo>
                  <a:pt x="0" y="567035"/>
                </a:lnTo>
                <a:lnTo>
                  <a:pt x="0" y="0"/>
                </a:lnTo>
                <a:close/>
              </a:path>
            </a:pathLst>
          </a:custGeom>
          <a:blipFill>
            <a:blip r:embed="rId4"/>
            <a:stretch>
              <a:fillRect l="0" t="0" r="0" b="0"/>
            </a:stretch>
          </a:blipFill>
        </p:spPr>
      </p:sp>
      <p:grpSp>
        <p:nvGrpSpPr>
          <p:cNvPr name="Group 9" id="9"/>
          <p:cNvGrpSpPr/>
          <p:nvPr/>
        </p:nvGrpSpPr>
        <p:grpSpPr>
          <a:xfrm rot="0">
            <a:off x="5189711" y="4161874"/>
            <a:ext cx="2127796" cy="708720"/>
            <a:chOff x="0" y="0"/>
            <a:chExt cx="2837062" cy="944960"/>
          </a:xfrm>
        </p:grpSpPr>
        <p:sp>
          <p:nvSpPr>
            <p:cNvPr name="Freeform 10" id="10"/>
            <p:cNvSpPr/>
            <p:nvPr/>
          </p:nvSpPr>
          <p:spPr>
            <a:xfrm flipH="false" flipV="false" rot="0">
              <a:off x="0" y="0"/>
              <a:ext cx="2837062" cy="944960"/>
            </a:xfrm>
            <a:custGeom>
              <a:avLst/>
              <a:gdLst/>
              <a:ahLst/>
              <a:cxnLst/>
              <a:rect r="r" b="b" t="t" l="l"/>
              <a:pathLst>
                <a:path h="944960" w="2837062">
                  <a:moveTo>
                    <a:pt x="0" y="0"/>
                  </a:moveTo>
                  <a:lnTo>
                    <a:pt x="2837062" y="0"/>
                  </a:lnTo>
                  <a:lnTo>
                    <a:pt x="2837062" y="944960"/>
                  </a:lnTo>
                  <a:lnTo>
                    <a:pt x="0" y="944960"/>
                  </a:lnTo>
                  <a:close/>
                </a:path>
              </a:pathLst>
            </a:custGeom>
            <a:solidFill>
              <a:srgbClr val="000000">
                <a:alpha val="0"/>
              </a:srgbClr>
            </a:solidFill>
          </p:spPr>
        </p:sp>
        <p:sp>
          <p:nvSpPr>
            <p:cNvPr name="TextBox 11" id="11"/>
            <p:cNvSpPr txBox="true"/>
            <p:nvPr/>
          </p:nvSpPr>
          <p:spPr>
            <a:xfrm>
              <a:off x="0" y="-28575"/>
              <a:ext cx="2837062" cy="973535"/>
            </a:xfrm>
            <a:prstGeom prst="rect">
              <a:avLst/>
            </a:prstGeom>
          </p:spPr>
          <p:txBody>
            <a:bodyPr anchor="t" rtlCol="false" tIns="0" lIns="0" bIns="0" rIns="0"/>
            <a:lstStyle/>
            <a:p>
              <a:pPr algn="l">
                <a:lnSpc>
                  <a:spcPts val="2750"/>
                </a:lnSpc>
              </a:pPr>
              <a:r>
                <a:rPr lang="en-US" sz="2187">
                  <a:solidFill>
                    <a:srgbClr val="272525"/>
                  </a:solidFill>
                  <a:latin typeface="Arimo"/>
                  <a:ea typeface="Arimo"/>
                  <a:cs typeface="Arimo"/>
                  <a:sym typeface="Arimo"/>
                </a:rPr>
                <a:t>Animation Performance</a:t>
              </a:r>
            </a:p>
          </p:txBody>
        </p:sp>
      </p:grpSp>
      <p:grpSp>
        <p:nvGrpSpPr>
          <p:cNvPr name="Group 12" id="12"/>
          <p:cNvGrpSpPr/>
          <p:nvPr/>
        </p:nvGrpSpPr>
        <p:grpSpPr>
          <a:xfrm rot="0">
            <a:off x="7317507" y="4144908"/>
            <a:ext cx="5694877" cy="1451372"/>
            <a:chOff x="0" y="0"/>
            <a:chExt cx="7593169" cy="1935163"/>
          </a:xfrm>
        </p:grpSpPr>
        <p:sp>
          <p:nvSpPr>
            <p:cNvPr name="Freeform 13" id="13"/>
            <p:cNvSpPr/>
            <p:nvPr/>
          </p:nvSpPr>
          <p:spPr>
            <a:xfrm flipH="false" flipV="false" rot="0">
              <a:off x="0" y="0"/>
              <a:ext cx="7593169" cy="1935163"/>
            </a:xfrm>
            <a:custGeom>
              <a:avLst/>
              <a:gdLst/>
              <a:ahLst/>
              <a:cxnLst/>
              <a:rect r="r" b="b" t="t" l="l"/>
              <a:pathLst>
                <a:path h="1935163" w="7593169">
                  <a:moveTo>
                    <a:pt x="0" y="0"/>
                  </a:moveTo>
                  <a:lnTo>
                    <a:pt x="7593169" y="0"/>
                  </a:lnTo>
                  <a:lnTo>
                    <a:pt x="7593169" y="1935163"/>
                  </a:lnTo>
                  <a:lnTo>
                    <a:pt x="0" y="1935163"/>
                  </a:lnTo>
                  <a:close/>
                </a:path>
              </a:pathLst>
            </a:custGeom>
            <a:solidFill>
              <a:srgbClr val="000000">
                <a:alpha val="0"/>
              </a:srgbClr>
            </a:solidFill>
          </p:spPr>
        </p:sp>
        <p:sp>
          <p:nvSpPr>
            <p:cNvPr name="TextBox 14" id="14"/>
            <p:cNvSpPr txBox="true"/>
            <p:nvPr/>
          </p:nvSpPr>
          <p:spPr>
            <a:xfrm>
              <a:off x="0" y="-76200"/>
              <a:ext cx="7593169" cy="201136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Optimized animation library with minimal overhead for smooth transitions.</a:t>
              </a:r>
            </a:p>
          </p:txBody>
        </p:sp>
      </p:grpSp>
      <p:grpSp>
        <p:nvGrpSpPr>
          <p:cNvPr name="Group 15" id="15"/>
          <p:cNvGrpSpPr/>
          <p:nvPr/>
        </p:nvGrpSpPr>
        <p:grpSpPr>
          <a:xfrm rot="0">
            <a:off x="992238" y="7206852"/>
            <a:ext cx="16032908" cy="1451372"/>
            <a:chOff x="0" y="0"/>
            <a:chExt cx="21377211" cy="1935163"/>
          </a:xfrm>
        </p:grpSpPr>
        <p:sp>
          <p:nvSpPr>
            <p:cNvPr name="Freeform 16" id="16"/>
            <p:cNvSpPr/>
            <p:nvPr/>
          </p:nvSpPr>
          <p:spPr>
            <a:xfrm flipH="false" flipV="false" rot="0">
              <a:off x="0" y="0"/>
              <a:ext cx="21377211" cy="1935163"/>
            </a:xfrm>
            <a:custGeom>
              <a:avLst/>
              <a:gdLst/>
              <a:ahLst/>
              <a:cxnLst/>
              <a:rect r="r" b="b" t="t" l="l"/>
              <a:pathLst>
                <a:path h="1935163" w="21377211">
                  <a:moveTo>
                    <a:pt x="0" y="0"/>
                  </a:moveTo>
                  <a:lnTo>
                    <a:pt x="21377211" y="0"/>
                  </a:lnTo>
                  <a:lnTo>
                    <a:pt x="21377211" y="1935163"/>
                  </a:lnTo>
                  <a:lnTo>
                    <a:pt x="0" y="1935163"/>
                  </a:lnTo>
                  <a:close/>
                </a:path>
              </a:pathLst>
            </a:custGeom>
            <a:solidFill>
              <a:srgbClr val="000000">
                <a:alpha val="0"/>
              </a:srgbClr>
            </a:solidFill>
          </p:spPr>
        </p:sp>
        <p:sp>
          <p:nvSpPr>
            <p:cNvPr name="TextBox 17" id="17"/>
            <p:cNvSpPr txBox="true"/>
            <p:nvPr/>
          </p:nvSpPr>
          <p:spPr>
            <a:xfrm>
              <a:off x="0" y="-76200"/>
              <a:ext cx="21377211" cy="2011363"/>
            </a:xfrm>
            <a:prstGeom prst="rect">
              <a:avLst/>
            </a:prstGeom>
          </p:spPr>
          <p:txBody>
            <a:bodyPr anchor="t" rtlCol="false" tIns="0" lIns="0" bIns="0" rIns="0"/>
            <a:lstStyle/>
            <a:p>
              <a:pPr algn="l">
                <a:lnSpc>
                  <a:spcPts val="2812"/>
                </a:lnSpc>
              </a:pPr>
              <a:r>
                <a:rPr lang="en-US" sz="1750">
                  <a:solidFill>
                    <a:srgbClr val="272525"/>
                  </a:solidFill>
                  <a:latin typeface="Lato"/>
                  <a:ea typeface="Lato"/>
                  <a:cs typeface="Lato"/>
                  <a:sym typeface="Lato"/>
                </a:rPr>
                <a:t>The development of Space Explorer presented several challenges, each requiring innovative solutions to ensure optimal performance and user experience. These challenges ranged from animation performance and dynamic icon selection to image source handling and state management structure.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DAGim8efwaA</dc:identifier>
  <dcterms:modified xsi:type="dcterms:W3CDTF">2011-08-01T06:04:30Z</dcterms:modified>
  <cp:revision>1</cp:revision>
  <dc:title>Space-Explorer-Flutter-App.pptx</dc:title>
</cp:coreProperties>
</file>