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B0604020202020204" charset="0"/>
      <p:regular r:id="rId19"/>
    </p:embeddedFont>
    <p:embeddedFont>
      <p:font typeface="Lato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38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2238" y="2797522"/>
            <a:ext cx="9445526" cy="1771947"/>
            <a:chOff x="0" y="0"/>
            <a:chExt cx="12594035" cy="2362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AI Sales Agent: Solution Presentation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4994672"/>
            <a:ext cx="9445526" cy="453629"/>
            <a:chOff x="0" y="0"/>
            <a:chExt cx="12594035" cy="604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This presentation introduces an AI Sales Agent solution.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5767239"/>
            <a:ext cx="9445526" cy="907256"/>
            <a:chOff x="0" y="0"/>
            <a:chExt cx="12594035" cy="1209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94035" cy="1209675"/>
            </a:xfrm>
            <a:custGeom>
              <a:avLst/>
              <a:gdLst/>
              <a:ahLst/>
              <a:cxnLst/>
              <a:rect l="l" t="t" r="r" b="b"/>
              <a:pathLst>
                <a:path w="12594035" h="120967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2594035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It covers key functionalities, technical details, and achievements. We will explore how this AI agent simulates sales conversations effectively.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0237" y="1750320"/>
            <a:ext cx="9445526" cy="2085576"/>
            <a:chOff x="0" y="0"/>
            <a:chExt cx="12594035" cy="2780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780769"/>
            </a:xfrm>
            <a:custGeom>
              <a:avLst/>
              <a:gdLst/>
              <a:ahLst/>
              <a:cxnLst/>
              <a:rect l="l" t="t" r="r" b="b"/>
              <a:pathLst>
                <a:path w="12594035" h="2780769">
                  <a:moveTo>
                    <a:pt x="0" y="0"/>
                  </a:moveTo>
                  <a:lnTo>
                    <a:pt x="12594035" y="0"/>
                  </a:lnTo>
                  <a:lnTo>
                    <a:pt x="12594035" y="2780769"/>
                  </a:lnTo>
                  <a:lnTo>
                    <a:pt x="0" y="2780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594035" cy="28379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Objective: Conversational AI Agent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5475" y="4575274"/>
            <a:ext cx="647402" cy="647402"/>
            <a:chOff x="0" y="0"/>
            <a:chExt cx="863203" cy="86320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771632" y="4580036"/>
            <a:ext cx="3544044" cy="442912"/>
            <a:chOff x="0" y="0"/>
            <a:chExt cx="4725392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Conversational AI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71632" y="5193060"/>
            <a:ext cx="3659684" cy="1360885"/>
            <a:chOff x="0" y="0"/>
            <a:chExt cx="4879578" cy="1814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79579" cy="1814513"/>
            </a:xfrm>
            <a:custGeom>
              <a:avLst/>
              <a:gdLst/>
              <a:ahLst/>
              <a:cxnLst/>
              <a:rect l="l" t="t" r="r" b="b"/>
              <a:pathLst>
                <a:path w="4879579" h="1814513">
                  <a:moveTo>
                    <a:pt x="0" y="0"/>
                  </a:moveTo>
                  <a:lnTo>
                    <a:pt x="4879579" y="0"/>
                  </a:lnTo>
                  <a:lnTo>
                    <a:pt x="4879579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4879578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Create an AI agent that simulates sales conversations.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10071" y="4575274"/>
            <a:ext cx="647402" cy="647402"/>
            <a:chOff x="0" y="0"/>
            <a:chExt cx="863203" cy="86320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636229" y="4580036"/>
            <a:ext cx="3544044" cy="442912"/>
            <a:chOff x="0" y="0"/>
            <a:chExt cx="4725392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Product Inquiries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36229" y="5193060"/>
            <a:ext cx="3659684" cy="907256"/>
            <a:chOff x="0" y="0"/>
            <a:chExt cx="4879578" cy="12096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79579" cy="1209675"/>
            </a:xfrm>
            <a:custGeom>
              <a:avLst/>
              <a:gdLst/>
              <a:ahLst/>
              <a:cxnLst/>
              <a:rect l="l" t="t" r="r" b="b"/>
              <a:pathLst>
                <a:path w="4879579" h="1209675">
                  <a:moveTo>
                    <a:pt x="0" y="0"/>
                  </a:moveTo>
                  <a:lnTo>
                    <a:pt x="4879579" y="0"/>
                  </a:lnTo>
                  <a:lnTo>
                    <a:pt x="487957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487957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Handle product inquiries and recommendations.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45475" y="7151637"/>
            <a:ext cx="647402" cy="647402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8771632" y="7156400"/>
            <a:ext cx="3674715" cy="442912"/>
            <a:chOff x="0" y="0"/>
            <a:chExt cx="4899620" cy="5905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99620" cy="590550"/>
            </a:xfrm>
            <a:custGeom>
              <a:avLst/>
              <a:gdLst/>
              <a:ahLst/>
              <a:cxnLst/>
              <a:rect l="l" t="t" r="r" b="b"/>
              <a:pathLst>
                <a:path w="4899620" h="590550">
                  <a:moveTo>
                    <a:pt x="0" y="0"/>
                  </a:moveTo>
                  <a:lnTo>
                    <a:pt x="4899620" y="0"/>
                  </a:lnTo>
                  <a:lnTo>
                    <a:pt x="489962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99620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dirty="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Conversation Scenarios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771632" y="8039100"/>
            <a:ext cx="8524131" cy="54044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Demonstrate multiple conversation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0237" y="1219051"/>
            <a:ext cx="9351466" cy="885974"/>
            <a:chOff x="0" y="0"/>
            <a:chExt cx="12468622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68622" cy="1181298"/>
            </a:xfrm>
            <a:custGeom>
              <a:avLst/>
              <a:gdLst/>
              <a:ahLst/>
              <a:cxnLst/>
              <a:rect l="l" t="t" r="r" b="b"/>
              <a:pathLst>
                <a:path w="12468622" h="1181298">
                  <a:moveTo>
                    <a:pt x="0" y="0"/>
                  </a:moveTo>
                  <a:lnTo>
                    <a:pt x="12468622" y="0"/>
                  </a:lnTo>
                  <a:lnTo>
                    <a:pt x="1246862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468622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Technical Approach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5475" y="2525465"/>
            <a:ext cx="4590604" cy="3363366"/>
            <a:chOff x="0" y="0"/>
            <a:chExt cx="6120805" cy="4484488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6108065" cy="4471797"/>
            </a:xfrm>
            <a:custGeom>
              <a:avLst/>
              <a:gdLst/>
              <a:ahLst/>
              <a:cxnLst/>
              <a:rect l="l" t="t" r="r" b="b"/>
              <a:pathLst>
                <a:path w="6108065" h="4471797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5949188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4312920"/>
                  </a:lnTo>
                  <a:cubicBezTo>
                    <a:pt x="6108065" y="4400677"/>
                    <a:pt x="6036945" y="4471670"/>
                    <a:pt x="5949188" y="4471670"/>
                  </a:cubicBezTo>
                  <a:lnTo>
                    <a:pt x="158877" y="4471670"/>
                  </a:lnTo>
                  <a:cubicBezTo>
                    <a:pt x="71120" y="4471797"/>
                    <a:pt x="0" y="4400677"/>
                    <a:pt x="0" y="431304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120765" cy="4484370"/>
            </a:xfrm>
            <a:custGeom>
              <a:avLst/>
              <a:gdLst/>
              <a:ahLst/>
              <a:cxnLst/>
              <a:rect l="l" t="t" r="r" b="b"/>
              <a:pathLst>
                <a:path w="6120765" h="448437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5955538" y="0"/>
                  </a:lnTo>
                  <a:lnTo>
                    <a:pt x="5955538" y="6350"/>
                  </a:lnTo>
                  <a:lnTo>
                    <a:pt x="5955538" y="0"/>
                  </a:lnTo>
                  <a:cubicBezTo>
                    <a:pt x="6046851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4319270"/>
                  </a:lnTo>
                  <a:lnTo>
                    <a:pt x="6114415" y="4319270"/>
                  </a:lnTo>
                  <a:lnTo>
                    <a:pt x="6120765" y="4319270"/>
                  </a:lnTo>
                  <a:cubicBezTo>
                    <a:pt x="6120765" y="4410456"/>
                    <a:pt x="6046724" y="4484370"/>
                    <a:pt x="5955538" y="4484370"/>
                  </a:cubicBezTo>
                  <a:lnTo>
                    <a:pt x="5955538" y="4478020"/>
                  </a:lnTo>
                  <a:lnTo>
                    <a:pt x="5955538" y="4484370"/>
                  </a:lnTo>
                  <a:lnTo>
                    <a:pt x="165227" y="4484370"/>
                  </a:lnTo>
                  <a:lnTo>
                    <a:pt x="165227" y="4478020"/>
                  </a:lnTo>
                  <a:lnTo>
                    <a:pt x="165227" y="4484370"/>
                  </a:lnTo>
                  <a:cubicBezTo>
                    <a:pt x="73914" y="4484370"/>
                    <a:pt x="0" y="4410456"/>
                    <a:pt x="0" y="431927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19270"/>
                  </a:lnTo>
                  <a:lnTo>
                    <a:pt x="6350" y="4319270"/>
                  </a:lnTo>
                  <a:lnTo>
                    <a:pt x="12700" y="4319270"/>
                  </a:lnTo>
                  <a:cubicBezTo>
                    <a:pt x="12700" y="4403471"/>
                    <a:pt x="81026" y="4471670"/>
                    <a:pt x="165227" y="4471670"/>
                  </a:cubicBezTo>
                  <a:lnTo>
                    <a:pt x="5955538" y="4471670"/>
                  </a:lnTo>
                  <a:cubicBezTo>
                    <a:pt x="6039739" y="4471670"/>
                    <a:pt x="6108065" y="4403471"/>
                    <a:pt x="6108065" y="4319270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538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143280" y="2823270"/>
            <a:ext cx="3544044" cy="442912"/>
            <a:chOff x="0" y="0"/>
            <a:chExt cx="4725392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Architecture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43280" y="3436292"/>
            <a:ext cx="3994994" cy="453629"/>
            <a:chOff x="0" y="0"/>
            <a:chExt cx="5326658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26658" cy="604838"/>
            </a:xfrm>
            <a:custGeom>
              <a:avLst/>
              <a:gdLst/>
              <a:ahLst/>
              <a:cxnLst/>
              <a:rect l="l" t="t" r="r" b="b"/>
              <a:pathLst>
                <a:path w="5326658" h="60483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main.py</a:t>
              </a: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: UI and application flow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43280" y="4060031"/>
            <a:ext cx="3994994" cy="453629"/>
            <a:chOff x="0" y="0"/>
            <a:chExt cx="5326658" cy="604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26658" cy="604838"/>
            </a:xfrm>
            <a:custGeom>
              <a:avLst/>
              <a:gdLst/>
              <a:ahLst/>
              <a:cxnLst/>
              <a:rect l="l" t="t" r="r" b="b"/>
              <a:pathLst>
                <a:path w="5326658" h="60483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config.py</a:t>
              </a: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: API configuration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43280" y="4683770"/>
            <a:ext cx="3994994" cy="907256"/>
            <a:chOff x="0" y="0"/>
            <a:chExt cx="5326658" cy="12096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26658" cy="1209675"/>
            </a:xfrm>
            <a:custGeom>
              <a:avLst/>
              <a:gdLst/>
              <a:ahLst/>
              <a:cxnLst/>
              <a:rect l="l" t="t" r="r" b="b"/>
              <a:pathLst>
                <a:path w="5326658" h="1209675">
                  <a:moveTo>
                    <a:pt x="0" y="0"/>
                  </a:moveTo>
                  <a:lnTo>
                    <a:pt x="5326658" y="0"/>
                  </a:lnTo>
                  <a:lnTo>
                    <a:pt x="53266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532665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product_catalog.py</a:t>
              </a: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: Product data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10071" y="2525465"/>
            <a:ext cx="4590604" cy="3363366"/>
            <a:chOff x="0" y="0"/>
            <a:chExt cx="6120805" cy="4484488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6108065" cy="4471797"/>
            </a:xfrm>
            <a:custGeom>
              <a:avLst/>
              <a:gdLst/>
              <a:ahLst/>
              <a:cxnLst/>
              <a:rect l="l" t="t" r="r" b="b"/>
              <a:pathLst>
                <a:path w="6108065" h="4471797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5949188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4312920"/>
                  </a:lnTo>
                  <a:cubicBezTo>
                    <a:pt x="6108065" y="4400677"/>
                    <a:pt x="6036945" y="4471670"/>
                    <a:pt x="5949188" y="4471670"/>
                  </a:cubicBezTo>
                  <a:lnTo>
                    <a:pt x="158877" y="4471670"/>
                  </a:lnTo>
                  <a:cubicBezTo>
                    <a:pt x="71120" y="4471797"/>
                    <a:pt x="0" y="4400677"/>
                    <a:pt x="0" y="431304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6120765" cy="4484370"/>
            </a:xfrm>
            <a:custGeom>
              <a:avLst/>
              <a:gdLst/>
              <a:ahLst/>
              <a:cxnLst/>
              <a:rect l="l" t="t" r="r" b="b"/>
              <a:pathLst>
                <a:path w="6120765" h="448437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5955538" y="0"/>
                  </a:lnTo>
                  <a:lnTo>
                    <a:pt x="5955538" y="6350"/>
                  </a:lnTo>
                  <a:lnTo>
                    <a:pt x="5955538" y="0"/>
                  </a:lnTo>
                  <a:cubicBezTo>
                    <a:pt x="6046851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4319270"/>
                  </a:lnTo>
                  <a:lnTo>
                    <a:pt x="6114415" y="4319270"/>
                  </a:lnTo>
                  <a:lnTo>
                    <a:pt x="6120765" y="4319270"/>
                  </a:lnTo>
                  <a:cubicBezTo>
                    <a:pt x="6120765" y="4410456"/>
                    <a:pt x="6046724" y="4484370"/>
                    <a:pt x="5955538" y="4484370"/>
                  </a:cubicBezTo>
                  <a:lnTo>
                    <a:pt x="5955538" y="4478020"/>
                  </a:lnTo>
                  <a:lnTo>
                    <a:pt x="5955538" y="4484370"/>
                  </a:lnTo>
                  <a:lnTo>
                    <a:pt x="165227" y="4484370"/>
                  </a:lnTo>
                  <a:lnTo>
                    <a:pt x="165227" y="4478020"/>
                  </a:lnTo>
                  <a:lnTo>
                    <a:pt x="165227" y="4484370"/>
                  </a:lnTo>
                  <a:cubicBezTo>
                    <a:pt x="73914" y="4484370"/>
                    <a:pt x="0" y="4410456"/>
                    <a:pt x="0" y="431927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19270"/>
                  </a:lnTo>
                  <a:lnTo>
                    <a:pt x="6350" y="4319270"/>
                  </a:lnTo>
                  <a:lnTo>
                    <a:pt x="12700" y="4319270"/>
                  </a:lnTo>
                  <a:cubicBezTo>
                    <a:pt x="12700" y="4403471"/>
                    <a:pt x="81026" y="4471670"/>
                    <a:pt x="165227" y="4471670"/>
                  </a:cubicBezTo>
                  <a:lnTo>
                    <a:pt x="5955538" y="4471670"/>
                  </a:lnTo>
                  <a:cubicBezTo>
                    <a:pt x="6039739" y="4471670"/>
                    <a:pt x="6108065" y="4403471"/>
                    <a:pt x="6108065" y="4319270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538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3007876" y="2836073"/>
            <a:ext cx="3544044" cy="492911"/>
            <a:chOff x="0" y="0"/>
            <a:chExt cx="4725392" cy="6572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25392" cy="657214"/>
            </a:xfrm>
            <a:custGeom>
              <a:avLst/>
              <a:gdLst/>
              <a:ahLst/>
              <a:cxnLst/>
              <a:rect l="l" t="t" r="r" b="b"/>
              <a:pathLst>
                <a:path w="4725392" h="657214">
                  <a:moveTo>
                    <a:pt x="0" y="0"/>
                  </a:moveTo>
                  <a:lnTo>
                    <a:pt x="4725392" y="0"/>
                  </a:lnTo>
                  <a:lnTo>
                    <a:pt x="4725392" y="657214"/>
                  </a:lnTo>
                  <a:lnTo>
                    <a:pt x="0" y="657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725392" cy="6762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sales_agent.py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007876" y="3436292"/>
            <a:ext cx="3994994" cy="453629"/>
            <a:chOff x="0" y="0"/>
            <a:chExt cx="5326658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26658" cy="604838"/>
            </a:xfrm>
            <a:custGeom>
              <a:avLst/>
              <a:gdLst/>
              <a:ahLst/>
              <a:cxnLst/>
              <a:rect l="l" t="t" r="r" b="b"/>
              <a:pathLst>
                <a:path w="5326658" h="60483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AI conversation logic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007876" y="4060031"/>
            <a:ext cx="3994994" cy="453629"/>
            <a:chOff x="0" y="0"/>
            <a:chExt cx="5326658" cy="6048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26658" cy="604838"/>
            </a:xfrm>
            <a:custGeom>
              <a:avLst/>
              <a:gdLst/>
              <a:ahLst/>
              <a:cxnLst/>
              <a:rect l="l" t="t" r="r" b="b"/>
              <a:pathLst>
                <a:path w="5326658" h="60483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.env</a:t>
              </a: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: API key storage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45475" y="6162824"/>
            <a:ext cx="9455051" cy="2909739"/>
            <a:chOff x="0" y="0"/>
            <a:chExt cx="12606735" cy="3879652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12594082" cy="3866896"/>
            </a:xfrm>
            <a:custGeom>
              <a:avLst/>
              <a:gdLst/>
              <a:ahLst/>
              <a:cxnLst/>
              <a:rect l="l" t="t" r="r" b="b"/>
              <a:pathLst>
                <a:path w="12594082" h="3866896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2434951" y="0"/>
                  </a:lnTo>
                  <a:cubicBezTo>
                    <a:pt x="12522835" y="0"/>
                    <a:pt x="12594082" y="71120"/>
                    <a:pt x="12594082" y="158750"/>
                  </a:cubicBezTo>
                  <a:lnTo>
                    <a:pt x="12594082" y="3708146"/>
                  </a:lnTo>
                  <a:cubicBezTo>
                    <a:pt x="12594082" y="3795776"/>
                    <a:pt x="12522835" y="3866896"/>
                    <a:pt x="12434951" y="3866896"/>
                  </a:cubicBezTo>
                  <a:lnTo>
                    <a:pt x="159131" y="3866896"/>
                  </a:lnTo>
                  <a:cubicBezTo>
                    <a:pt x="71247" y="3866896"/>
                    <a:pt x="0" y="3795776"/>
                    <a:pt x="0" y="3708146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2606782" cy="3879596"/>
            </a:xfrm>
            <a:custGeom>
              <a:avLst/>
              <a:gdLst/>
              <a:ahLst/>
              <a:cxnLst/>
              <a:rect l="l" t="t" r="r" b="b"/>
              <a:pathLst>
                <a:path w="12606782" h="3879596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12441301" y="0"/>
                  </a:lnTo>
                  <a:lnTo>
                    <a:pt x="12441301" y="6350"/>
                  </a:lnTo>
                  <a:lnTo>
                    <a:pt x="12441301" y="0"/>
                  </a:lnTo>
                  <a:cubicBezTo>
                    <a:pt x="12532740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3714496"/>
                  </a:lnTo>
                  <a:lnTo>
                    <a:pt x="12600432" y="3714496"/>
                  </a:lnTo>
                  <a:lnTo>
                    <a:pt x="12606782" y="3714496"/>
                  </a:lnTo>
                  <a:cubicBezTo>
                    <a:pt x="12606782" y="3805682"/>
                    <a:pt x="12532613" y="3879596"/>
                    <a:pt x="12441301" y="3879596"/>
                  </a:cubicBezTo>
                  <a:lnTo>
                    <a:pt x="12441301" y="3873246"/>
                  </a:lnTo>
                  <a:lnTo>
                    <a:pt x="12441301" y="3879596"/>
                  </a:lnTo>
                  <a:lnTo>
                    <a:pt x="165481" y="3879596"/>
                  </a:lnTo>
                  <a:lnTo>
                    <a:pt x="165481" y="3873246"/>
                  </a:lnTo>
                  <a:lnTo>
                    <a:pt x="165481" y="3879596"/>
                  </a:lnTo>
                  <a:cubicBezTo>
                    <a:pt x="74041" y="3879596"/>
                    <a:pt x="0" y="3805682"/>
                    <a:pt x="0" y="371449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714496"/>
                  </a:lnTo>
                  <a:lnTo>
                    <a:pt x="6350" y="3714496"/>
                  </a:lnTo>
                  <a:lnTo>
                    <a:pt x="12700" y="3714496"/>
                  </a:lnTo>
                  <a:cubicBezTo>
                    <a:pt x="12700" y="3798697"/>
                    <a:pt x="81153" y="3866896"/>
                    <a:pt x="165481" y="3866896"/>
                  </a:cubicBezTo>
                  <a:lnTo>
                    <a:pt x="12441301" y="3866896"/>
                  </a:lnTo>
                  <a:cubicBezTo>
                    <a:pt x="12525756" y="3866896"/>
                    <a:pt x="12594082" y="3798697"/>
                    <a:pt x="12594082" y="3714496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143280" y="6460629"/>
            <a:ext cx="3544044" cy="442912"/>
            <a:chOff x="0" y="0"/>
            <a:chExt cx="4725392" cy="5905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Technologies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43280" y="7073653"/>
            <a:ext cx="8859441" cy="453629"/>
            <a:chOff x="0" y="0"/>
            <a:chExt cx="11812588" cy="60483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812588" cy="604838"/>
            </a:xfrm>
            <a:custGeom>
              <a:avLst/>
              <a:gdLst/>
              <a:ahLst/>
              <a:cxnLst/>
              <a:rect l="l" t="t" r="r" b="b"/>
              <a:pathLst>
                <a:path w="11812588" h="60483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18125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Streamlit (UI Framework)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43280" y="7697391"/>
            <a:ext cx="8859441" cy="453629"/>
            <a:chOff x="0" y="0"/>
            <a:chExt cx="11812588" cy="60483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812588" cy="604838"/>
            </a:xfrm>
            <a:custGeom>
              <a:avLst/>
              <a:gdLst/>
              <a:ahLst/>
              <a:cxnLst/>
              <a:rect l="l" t="t" r="r" b="b"/>
              <a:pathLst>
                <a:path w="11812588" h="60483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0"/>
              <a:ext cx="118125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Google Gemini API (Conversational AI)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43280" y="8321129"/>
            <a:ext cx="8859441" cy="453629"/>
            <a:chOff x="0" y="0"/>
            <a:chExt cx="11812588" cy="6048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812588" cy="604838"/>
            </a:xfrm>
            <a:custGeom>
              <a:avLst/>
              <a:gdLst/>
              <a:ahLst/>
              <a:cxnLst/>
              <a:rect l="l" t="t" r="r" b="b"/>
              <a:pathLst>
                <a:path w="11812588" h="60483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0"/>
              <a:ext cx="118125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Python (Backend Logic)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2238" y="1936254"/>
            <a:ext cx="7580114" cy="885974"/>
            <a:chOff x="0" y="0"/>
            <a:chExt cx="10106818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06818" cy="1181298"/>
            </a:xfrm>
            <a:custGeom>
              <a:avLst/>
              <a:gdLst/>
              <a:ahLst/>
              <a:cxnLst/>
              <a:rect l="l" t="t" r="r" b="b"/>
              <a:pathLst>
                <a:path w="10106818" h="1181298">
                  <a:moveTo>
                    <a:pt x="0" y="0"/>
                  </a:moveTo>
                  <a:lnTo>
                    <a:pt x="10106818" y="0"/>
                  </a:lnTo>
                  <a:lnTo>
                    <a:pt x="1010681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106818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Modular Code Structure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3247430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5" b="-5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835028" y="3530948"/>
            <a:ext cx="4314025" cy="554239"/>
            <a:chOff x="0" y="0"/>
            <a:chExt cx="5752034" cy="7389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52033" cy="738985"/>
            </a:xfrm>
            <a:custGeom>
              <a:avLst/>
              <a:gdLst/>
              <a:ahLst/>
              <a:cxnLst/>
              <a:rect l="l" t="t" r="r" b="b"/>
              <a:pathLst>
                <a:path w="5752033" h="738985">
                  <a:moveTo>
                    <a:pt x="0" y="0"/>
                  </a:moveTo>
                  <a:lnTo>
                    <a:pt x="5752033" y="0"/>
                  </a:lnTo>
                  <a:lnTo>
                    <a:pt x="5752033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752034" cy="7770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Separation of Concerns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35027" y="4143970"/>
            <a:ext cx="7602736" cy="453629"/>
            <a:chOff x="0" y="0"/>
            <a:chExt cx="10136982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l="l" t="t" r="r" b="b"/>
              <a:pathLst>
                <a:path w="10136982" h="604838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013698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Divided concerns into logical components.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92238" y="4948535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" b="-55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2835027" y="5232052"/>
            <a:ext cx="3544044" cy="442912"/>
            <a:chOff x="0" y="0"/>
            <a:chExt cx="4725392" cy="590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Maintainability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35027" y="5845076"/>
            <a:ext cx="7602736" cy="453629"/>
            <a:chOff x="0" y="0"/>
            <a:chExt cx="1013698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l="l" t="t" r="r" b="b"/>
              <a:pathLst>
                <a:path w="10136982" h="604838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1013698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Improved maintainability and readability.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92238" y="6649641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5" b="-55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2835027" y="6933159"/>
            <a:ext cx="3544044" cy="442912"/>
            <a:chOff x="0" y="0"/>
            <a:chExt cx="4725392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Testing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35027" y="7546181"/>
            <a:ext cx="7602736" cy="453629"/>
            <a:chOff x="0" y="0"/>
            <a:chExt cx="10136982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l="l" t="t" r="r" b="b"/>
              <a:pathLst>
                <a:path w="10136982" h="604838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013698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Enabled easier testing and debugging.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8" y="3153816"/>
            <a:ext cx="7805886" cy="1132367"/>
            <a:chOff x="0" y="0"/>
            <a:chExt cx="10407848" cy="15098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07848" cy="1509823"/>
            </a:xfrm>
            <a:custGeom>
              <a:avLst/>
              <a:gdLst/>
              <a:ahLst/>
              <a:cxnLst/>
              <a:rect l="l" t="t" r="r" b="b"/>
              <a:pathLst>
                <a:path w="10407848" h="1509823">
                  <a:moveTo>
                    <a:pt x="0" y="0"/>
                  </a:moveTo>
                  <a:lnTo>
                    <a:pt x="10407848" y="0"/>
                  </a:lnTo>
                  <a:lnTo>
                    <a:pt x="10407848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407848" cy="156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Conversational UI &amp; AI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8" y="4748510"/>
            <a:ext cx="3544044" cy="442912"/>
            <a:chOff x="0" y="0"/>
            <a:chExt cx="4725392" cy="590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Conversational UI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5474940"/>
            <a:ext cx="7805886" cy="453629"/>
            <a:chOff x="0" y="0"/>
            <a:chExt cx="10407848" cy="6048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Chat-based interface for natural interactions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8" y="6027687"/>
            <a:ext cx="7805886" cy="453629"/>
            <a:chOff x="0" y="0"/>
            <a:chExt cx="10407848" cy="604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Context preservation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38" y="6580435"/>
            <a:ext cx="7805886" cy="453629"/>
            <a:chOff x="0" y="0"/>
            <a:chExt cx="10407848" cy="604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Dynamic category buttons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99401" y="4748510"/>
            <a:ext cx="3544044" cy="442912"/>
            <a:chOff x="0" y="0"/>
            <a:chExt cx="4725392" cy="590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AI Integration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99401" y="5474940"/>
            <a:ext cx="7805886" cy="453629"/>
            <a:chOff x="0" y="0"/>
            <a:chExt cx="10407848" cy="6048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Custom prompt engineering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9401" y="6027687"/>
            <a:ext cx="7805886" cy="453629"/>
            <a:chOff x="0" y="0"/>
            <a:chExt cx="10407848" cy="604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Error handling for API robustness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99401" y="6580435"/>
            <a:ext cx="7805886" cy="453629"/>
            <a:chOff x="0" y="0"/>
            <a:chExt cx="10407848" cy="6048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Conversation history formatting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0237" y="1328589"/>
            <a:ext cx="9320361" cy="885974"/>
            <a:chOff x="0" y="0"/>
            <a:chExt cx="12427148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27148" cy="1181298"/>
            </a:xfrm>
            <a:custGeom>
              <a:avLst/>
              <a:gdLst/>
              <a:ahLst/>
              <a:cxnLst/>
              <a:rect l="l" t="t" r="r" b="b"/>
              <a:pathLst>
                <a:path w="12427148" h="1181298">
                  <a:moveTo>
                    <a:pt x="0" y="0"/>
                  </a:moveTo>
                  <a:lnTo>
                    <a:pt x="12427148" y="0"/>
                  </a:lnTo>
                  <a:lnTo>
                    <a:pt x="1242714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427148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Product Category Exploration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850237" y="263976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850237" y="3632001"/>
            <a:ext cx="2864941" cy="442912"/>
            <a:chOff x="0" y="0"/>
            <a:chExt cx="3819922" cy="590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9922" cy="590550"/>
            </a:xfrm>
            <a:custGeom>
              <a:avLst/>
              <a:gdLst/>
              <a:ahLst/>
              <a:cxnLst/>
              <a:rect l="l" t="t" r="r" b="b"/>
              <a:pathLst>
                <a:path w="3819922" h="590550">
                  <a:moveTo>
                    <a:pt x="0" y="0"/>
                  </a:moveTo>
                  <a:lnTo>
                    <a:pt x="3819922" y="0"/>
                  </a:lnTo>
                  <a:lnTo>
                    <a:pt x="381992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1992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User Inquiry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50237" y="4245025"/>
            <a:ext cx="2864941" cy="907256"/>
            <a:chOff x="0" y="0"/>
            <a:chExt cx="3819922" cy="12096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9922" cy="1209675"/>
            </a:xfrm>
            <a:custGeom>
              <a:avLst/>
              <a:gdLst/>
              <a:ahLst/>
              <a:cxnLst/>
              <a:rect l="l" t="t" r="r" b="b"/>
              <a:pathLst>
                <a:path w="3819922" h="1209675">
                  <a:moveTo>
                    <a:pt x="0" y="0"/>
                  </a:moveTo>
                  <a:lnTo>
                    <a:pt x="3819922" y="0"/>
                  </a:lnTo>
                  <a:lnTo>
                    <a:pt x="3819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3819922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User asks about a product category.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1140380" y="263976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1140380" y="3632001"/>
            <a:ext cx="2865090" cy="885825"/>
            <a:chOff x="0" y="0"/>
            <a:chExt cx="3820120" cy="1181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20120" cy="1181100"/>
            </a:xfrm>
            <a:custGeom>
              <a:avLst/>
              <a:gdLst/>
              <a:ahLst/>
              <a:cxnLst/>
              <a:rect l="l" t="t" r="r" b="b"/>
              <a:pathLst>
                <a:path w="3820120" h="1181100">
                  <a:moveTo>
                    <a:pt x="0" y="0"/>
                  </a:moveTo>
                  <a:lnTo>
                    <a:pt x="3820120" y="0"/>
                  </a:lnTo>
                  <a:lnTo>
                    <a:pt x="382012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820120" cy="1219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Category Detection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40380" y="4687938"/>
            <a:ext cx="2865090" cy="907256"/>
            <a:chOff x="0" y="0"/>
            <a:chExt cx="3820120" cy="12096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20120" cy="1209675"/>
            </a:xfrm>
            <a:custGeom>
              <a:avLst/>
              <a:gdLst/>
              <a:ahLst/>
              <a:cxnLst/>
              <a:rect l="l" t="t" r="r" b="b"/>
              <a:pathLst>
                <a:path w="3820120" h="1209675">
                  <a:moveTo>
                    <a:pt x="0" y="0"/>
                  </a:moveTo>
                  <a:lnTo>
                    <a:pt x="3820120" y="0"/>
                  </a:lnTo>
                  <a:lnTo>
                    <a:pt x="38201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3820120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System detects category mentions.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4430672" y="263976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4430672" y="3632001"/>
            <a:ext cx="2864941" cy="442912"/>
            <a:chOff x="0" y="0"/>
            <a:chExt cx="3819922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9922" cy="590550"/>
            </a:xfrm>
            <a:custGeom>
              <a:avLst/>
              <a:gdLst/>
              <a:ahLst/>
              <a:cxnLst/>
              <a:rect l="l" t="t" r="r" b="b"/>
              <a:pathLst>
                <a:path w="3819922" h="590550">
                  <a:moveTo>
                    <a:pt x="0" y="0"/>
                  </a:moveTo>
                  <a:lnTo>
                    <a:pt x="3819922" y="0"/>
                  </a:lnTo>
                  <a:lnTo>
                    <a:pt x="381992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81992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Category Buttons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30672" y="4245025"/>
            <a:ext cx="2864941" cy="907256"/>
            <a:chOff x="0" y="0"/>
            <a:chExt cx="3819922" cy="12096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9922" cy="1209675"/>
            </a:xfrm>
            <a:custGeom>
              <a:avLst/>
              <a:gdLst/>
              <a:ahLst/>
              <a:cxnLst/>
              <a:rect l="l" t="t" r="r" b="b"/>
              <a:pathLst>
                <a:path w="3819922" h="1209675">
                  <a:moveTo>
                    <a:pt x="0" y="0"/>
                  </a:moveTo>
                  <a:lnTo>
                    <a:pt x="3819922" y="0"/>
                  </a:lnTo>
                  <a:lnTo>
                    <a:pt x="3819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3819922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Category buttons appear.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7850237" y="644574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7850237" y="7437984"/>
            <a:ext cx="2864941" cy="442912"/>
            <a:chOff x="0" y="0"/>
            <a:chExt cx="3819922" cy="5905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819922" cy="590550"/>
            </a:xfrm>
            <a:custGeom>
              <a:avLst/>
              <a:gdLst/>
              <a:ahLst/>
              <a:cxnLst/>
              <a:rect l="l" t="t" r="r" b="b"/>
              <a:pathLst>
                <a:path w="3819922" h="590550">
                  <a:moveTo>
                    <a:pt x="0" y="0"/>
                  </a:moveTo>
                  <a:lnTo>
                    <a:pt x="3819922" y="0"/>
                  </a:lnTo>
                  <a:lnTo>
                    <a:pt x="381992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81992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Product Display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50237" y="8051006"/>
            <a:ext cx="2864941" cy="907256"/>
            <a:chOff x="0" y="0"/>
            <a:chExt cx="3819922" cy="12096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19922" cy="1209675"/>
            </a:xfrm>
            <a:custGeom>
              <a:avLst/>
              <a:gdLst/>
              <a:ahLst/>
              <a:cxnLst/>
              <a:rect l="l" t="t" r="r" b="b"/>
              <a:pathLst>
                <a:path w="3819922" h="1209675">
                  <a:moveTo>
                    <a:pt x="0" y="0"/>
                  </a:moveTo>
                  <a:lnTo>
                    <a:pt x="3819922" y="0"/>
                  </a:lnTo>
                  <a:lnTo>
                    <a:pt x="3819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3819922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System displays available products.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7" y="1563886"/>
            <a:ext cx="12882802" cy="1132367"/>
            <a:chOff x="0" y="0"/>
            <a:chExt cx="17177070" cy="15098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77069" cy="1509823"/>
            </a:xfrm>
            <a:custGeom>
              <a:avLst/>
              <a:gdLst/>
              <a:ahLst/>
              <a:cxnLst/>
              <a:rect l="l" t="t" r="r" b="b"/>
              <a:pathLst>
                <a:path w="17177069" h="1509823">
                  <a:moveTo>
                    <a:pt x="0" y="0"/>
                  </a:moveTo>
                  <a:lnTo>
                    <a:pt x="17177069" y="0"/>
                  </a:lnTo>
                  <a:lnTo>
                    <a:pt x="1717706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177070" cy="156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Budget-Based Recommendations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21570" y="3803749"/>
            <a:ext cx="3544044" cy="442912"/>
            <a:chOff x="0" y="0"/>
            <a:chExt cx="4725392" cy="590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Budget Mention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4416772"/>
            <a:ext cx="4873378" cy="453629"/>
            <a:chOff x="0" y="0"/>
            <a:chExt cx="6497837" cy="6048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837" cy="604838"/>
            </a:xfrm>
            <a:custGeom>
              <a:avLst/>
              <a:gdLst/>
              <a:ahLst/>
              <a:cxnLst/>
              <a:rect l="l" t="t" r="r" b="b"/>
              <a:pathLst>
                <a:path w="6497837" h="604838">
                  <a:moveTo>
                    <a:pt x="0" y="0"/>
                  </a:moveTo>
                  <a:lnTo>
                    <a:pt x="6497837" y="0"/>
                  </a:lnTo>
                  <a:lnTo>
                    <a:pt x="649783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6497837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User mentions budget constraints.</a:t>
              </a:r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 descr="preencoded.png"/>
          <p:cNvSpPr/>
          <p:nvPr/>
        </p:nvSpPr>
        <p:spPr>
          <a:xfrm>
            <a:off x="7783414" y="3970735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0" r="-230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422237" y="3803749"/>
            <a:ext cx="3544044" cy="442912"/>
            <a:chOff x="0" y="0"/>
            <a:chExt cx="4725392" cy="5905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Price Requirement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22237" y="4416772"/>
            <a:ext cx="4873526" cy="453629"/>
            <a:chOff x="0" y="0"/>
            <a:chExt cx="6498035" cy="6048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98035" cy="604838"/>
            </a:xfrm>
            <a:custGeom>
              <a:avLst/>
              <a:gdLst/>
              <a:ahLst/>
              <a:cxnLst/>
              <a:rect l="l" t="t" r="r" b="b"/>
              <a:pathLst>
                <a:path w="6498035" h="604838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6498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AI processes price requirements.</a:t>
              </a:r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565755" y="4456360"/>
            <a:ext cx="424160" cy="530275"/>
            <a:chOff x="0" y="0"/>
            <a:chExt cx="565547" cy="7070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5547" cy="707033"/>
            </a:xfrm>
            <a:custGeom>
              <a:avLst/>
              <a:gdLst/>
              <a:ahLst/>
              <a:cxnLst/>
              <a:rect l="l" t="t" r="r" b="b"/>
              <a:pathLst>
                <a:path w="565547" h="707033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22237" y="6869460"/>
            <a:ext cx="3544044" cy="442912"/>
            <a:chOff x="0" y="0"/>
            <a:chExt cx="4725392" cy="5905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Product Filtering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22237" y="7482482"/>
            <a:ext cx="4873526" cy="453629"/>
            <a:chOff x="0" y="0"/>
            <a:chExt cx="6498035" cy="6048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98035" cy="604838"/>
            </a:xfrm>
            <a:custGeom>
              <a:avLst/>
              <a:gdLst/>
              <a:ahLst/>
              <a:cxnLst/>
              <a:rect l="l" t="t" r="r" b="b"/>
              <a:pathLst>
                <a:path w="6498035" h="604838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6498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System filters products.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0080129" y="7238702"/>
            <a:ext cx="424160" cy="530275"/>
            <a:chOff x="0" y="0"/>
            <a:chExt cx="565547" cy="7070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5547" cy="707033"/>
            </a:xfrm>
            <a:custGeom>
              <a:avLst/>
              <a:gdLst/>
              <a:ahLst/>
              <a:cxnLst/>
              <a:rect l="l" t="t" r="r" b="b"/>
              <a:pathLst>
                <a:path w="565547" h="707033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321570" y="6869460"/>
            <a:ext cx="3544044" cy="442912"/>
            <a:chOff x="0" y="0"/>
            <a:chExt cx="4725392" cy="5905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Recommendations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2238" y="7482482"/>
            <a:ext cx="4873378" cy="453629"/>
            <a:chOff x="0" y="0"/>
            <a:chExt cx="6497837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97837" cy="604838"/>
            </a:xfrm>
            <a:custGeom>
              <a:avLst/>
              <a:gdLst/>
              <a:ahLst/>
              <a:cxnLst/>
              <a:rect l="l" t="t" r="r" b="b"/>
              <a:pathLst>
                <a:path w="6497837" h="604838">
                  <a:moveTo>
                    <a:pt x="0" y="0"/>
                  </a:moveTo>
                  <a:lnTo>
                    <a:pt x="6497837" y="0"/>
                  </a:lnTo>
                  <a:lnTo>
                    <a:pt x="649783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6497837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Recommendations match criteria.</a:t>
              </a:r>
            </a:p>
          </p:txBody>
        </p:sp>
      </p:grpSp>
      <p:sp>
        <p:nvSpPr>
          <p:cNvPr id="42" name="Freeform 42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7297788" y="6753076"/>
            <a:ext cx="424160" cy="530275"/>
            <a:chOff x="0" y="0"/>
            <a:chExt cx="565547" cy="70703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5547" cy="707033"/>
            </a:xfrm>
            <a:custGeom>
              <a:avLst/>
              <a:gdLst/>
              <a:ahLst/>
              <a:cxnLst/>
              <a:rect l="l" t="t" r="r" b="b"/>
              <a:pathLst>
                <a:path w="565547" h="707033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52400"/>
              <a:ext cx="565547" cy="8594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8" y="1824781"/>
            <a:ext cx="7088237" cy="885974"/>
            <a:chOff x="0" y="0"/>
            <a:chExt cx="9450983" cy="1181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Product Comparison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7475" y="3273029"/>
            <a:ext cx="2726680" cy="1643211"/>
            <a:chOff x="0" y="0"/>
            <a:chExt cx="3635573" cy="2190948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3622802" cy="2178177"/>
            </a:xfrm>
            <a:custGeom>
              <a:avLst/>
              <a:gdLst/>
              <a:ahLst/>
              <a:cxnLst/>
              <a:rect l="l" t="t" r="r" b="b"/>
              <a:pathLst>
                <a:path w="3622802" h="2178177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3463671" y="0"/>
                  </a:lnTo>
                  <a:cubicBezTo>
                    <a:pt x="3551555" y="0"/>
                    <a:pt x="3622802" y="71120"/>
                    <a:pt x="3622802" y="158750"/>
                  </a:cubicBezTo>
                  <a:lnTo>
                    <a:pt x="3622802" y="2019427"/>
                  </a:lnTo>
                  <a:cubicBezTo>
                    <a:pt x="3622802" y="2107057"/>
                    <a:pt x="3551555" y="2178177"/>
                    <a:pt x="3463671" y="2178177"/>
                  </a:cubicBezTo>
                  <a:lnTo>
                    <a:pt x="159131" y="2178177"/>
                  </a:lnTo>
                  <a:cubicBezTo>
                    <a:pt x="71247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35502" cy="2190877"/>
            </a:xfrm>
            <a:custGeom>
              <a:avLst/>
              <a:gdLst/>
              <a:ahLst/>
              <a:cxnLst/>
              <a:rect l="l" t="t" r="r" b="b"/>
              <a:pathLst>
                <a:path w="3635502" h="2190877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3470021" y="0"/>
                  </a:lnTo>
                  <a:lnTo>
                    <a:pt x="3470021" y="6350"/>
                  </a:lnTo>
                  <a:lnTo>
                    <a:pt x="3470021" y="0"/>
                  </a:lnTo>
                  <a:cubicBezTo>
                    <a:pt x="3561461" y="0"/>
                    <a:pt x="3635502" y="73914"/>
                    <a:pt x="3635502" y="165100"/>
                  </a:cubicBezTo>
                  <a:lnTo>
                    <a:pt x="3629152" y="165100"/>
                  </a:lnTo>
                  <a:lnTo>
                    <a:pt x="3635502" y="165100"/>
                  </a:lnTo>
                  <a:lnTo>
                    <a:pt x="3635502" y="2025777"/>
                  </a:lnTo>
                  <a:lnTo>
                    <a:pt x="3629152" y="2025777"/>
                  </a:lnTo>
                  <a:lnTo>
                    <a:pt x="3635502" y="2025777"/>
                  </a:lnTo>
                  <a:cubicBezTo>
                    <a:pt x="3635502" y="2116963"/>
                    <a:pt x="3561334" y="2190877"/>
                    <a:pt x="3470021" y="2190877"/>
                  </a:cubicBezTo>
                  <a:lnTo>
                    <a:pt x="3470021" y="2184527"/>
                  </a:lnTo>
                  <a:lnTo>
                    <a:pt x="3470021" y="2190877"/>
                  </a:lnTo>
                  <a:lnTo>
                    <a:pt x="165481" y="2190877"/>
                  </a:lnTo>
                  <a:lnTo>
                    <a:pt x="165481" y="2184527"/>
                  </a:lnTo>
                  <a:lnTo>
                    <a:pt x="165481" y="2190877"/>
                  </a:lnTo>
                  <a:cubicBezTo>
                    <a:pt x="74041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153" y="2178177"/>
                    <a:pt x="165481" y="2178177"/>
                  </a:cubicBezTo>
                  <a:lnTo>
                    <a:pt x="3470021" y="2178177"/>
                  </a:lnTo>
                  <a:cubicBezTo>
                    <a:pt x="3554476" y="2178177"/>
                    <a:pt x="3622802" y="2109978"/>
                    <a:pt x="3622802" y="2025777"/>
                  </a:cubicBezTo>
                  <a:lnTo>
                    <a:pt x="3622802" y="165100"/>
                  </a:lnTo>
                  <a:cubicBezTo>
                    <a:pt x="3622802" y="80899"/>
                    <a:pt x="3554349" y="12700"/>
                    <a:pt x="347002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2151459" y="384542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992910" y="3561309"/>
            <a:ext cx="3544044" cy="442912"/>
            <a:chOff x="0" y="0"/>
            <a:chExt cx="4725392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Comparison Request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92910" y="4174331"/>
            <a:ext cx="3863280" cy="453629"/>
            <a:chOff x="0" y="0"/>
            <a:chExt cx="5151040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51040" cy="604838"/>
            </a:xfrm>
            <a:custGeom>
              <a:avLst/>
              <a:gdLst/>
              <a:ahLst/>
              <a:cxnLst/>
              <a:rect l="l" t="t" r="r" b="b"/>
              <a:pathLst>
                <a:path w="5151040" h="604838">
                  <a:moveTo>
                    <a:pt x="0" y="0"/>
                  </a:moveTo>
                  <a:lnTo>
                    <a:pt x="5151040" y="0"/>
                  </a:lnTo>
                  <a:lnTo>
                    <a:pt x="515104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515104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User asks to compare products.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51076" y="4892427"/>
            <a:ext cx="13303002" cy="19050"/>
            <a:chOff x="0" y="0"/>
            <a:chExt cx="17737337" cy="25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737328" cy="25400"/>
            </a:xfrm>
            <a:custGeom>
              <a:avLst/>
              <a:gdLst/>
              <a:ahLst/>
              <a:cxnLst/>
              <a:rect l="l" t="t" r="r" b="b"/>
              <a:pathLst>
                <a:path w="17737328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87475" y="5048399"/>
            <a:ext cx="5443984" cy="1643211"/>
            <a:chOff x="0" y="0"/>
            <a:chExt cx="7258645" cy="2190948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7245858" cy="2178177"/>
            </a:xfrm>
            <a:custGeom>
              <a:avLst/>
              <a:gdLst/>
              <a:ahLst/>
              <a:cxnLst/>
              <a:rect l="l" t="t" r="r" b="b"/>
              <a:pathLst>
                <a:path w="7245858" h="2178177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7086473" y="0"/>
                  </a:lnTo>
                  <a:cubicBezTo>
                    <a:pt x="7174484" y="0"/>
                    <a:pt x="7245858" y="71120"/>
                    <a:pt x="7245858" y="158750"/>
                  </a:cubicBezTo>
                  <a:lnTo>
                    <a:pt x="7245858" y="2019427"/>
                  </a:lnTo>
                  <a:cubicBezTo>
                    <a:pt x="7245858" y="2107057"/>
                    <a:pt x="7174484" y="2178177"/>
                    <a:pt x="7086473" y="2178177"/>
                  </a:cubicBezTo>
                  <a:lnTo>
                    <a:pt x="159385" y="2178177"/>
                  </a:lnTo>
                  <a:cubicBezTo>
                    <a:pt x="71374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258558" cy="2190877"/>
            </a:xfrm>
            <a:custGeom>
              <a:avLst/>
              <a:gdLst/>
              <a:ahLst/>
              <a:cxnLst/>
              <a:rect l="l" t="t" r="r" b="b"/>
              <a:pathLst>
                <a:path w="7258558" h="2190877">
                  <a:moveTo>
                    <a:pt x="0" y="165100"/>
                  </a:moveTo>
                  <a:cubicBezTo>
                    <a:pt x="0" y="73914"/>
                    <a:pt x="74295" y="0"/>
                    <a:pt x="165735" y="0"/>
                  </a:cubicBezTo>
                  <a:lnTo>
                    <a:pt x="7092823" y="0"/>
                  </a:lnTo>
                  <a:lnTo>
                    <a:pt x="7092823" y="6350"/>
                  </a:lnTo>
                  <a:lnTo>
                    <a:pt x="7092823" y="0"/>
                  </a:lnTo>
                  <a:cubicBezTo>
                    <a:pt x="7184390" y="0"/>
                    <a:pt x="7258558" y="73914"/>
                    <a:pt x="7258558" y="165100"/>
                  </a:cubicBezTo>
                  <a:lnTo>
                    <a:pt x="7252208" y="165100"/>
                  </a:lnTo>
                  <a:lnTo>
                    <a:pt x="7258558" y="165100"/>
                  </a:lnTo>
                  <a:lnTo>
                    <a:pt x="7258558" y="2025777"/>
                  </a:lnTo>
                  <a:lnTo>
                    <a:pt x="7252208" y="2025777"/>
                  </a:lnTo>
                  <a:lnTo>
                    <a:pt x="7258558" y="2025777"/>
                  </a:lnTo>
                  <a:cubicBezTo>
                    <a:pt x="7258558" y="2116963"/>
                    <a:pt x="7184263" y="2190877"/>
                    <a:pt x="7092823" y="2190877"/>
                  </a:cubicBezTo>
                  <a:lnTo>
                    <a:pt x="7092823" y="2184527"/>
                  </a:lnTo>
                  <a:lnTo>
                    <a:pt x="7092823" y="2190877"/>
                  </a:lnTo>
                  <a:lnTo>
                    <a:pt x="165735" y="2190877"/>
                  </a:lnTo>
                  <a:lnTo>
                    <a:pt x="165735" y="2184527"/>
                  </a:lnTo>
                  <a:lnTo>
                    <a:pt x="165735" y="2190877"/>
                  </a:lnTo>
                  <a:cubicBezTo>
                    <a:pt x="74168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153" y="2178177"/>
                    <a:pt x="165735" y="2178177"/>
                  </a:cubicBezTo>
                  <a:lnTo>
                    <a:pt x="7092823" y="2178177"/>
                  </a:lnTo>
                  <a:cubicBezTo>
                    <a:pt x="7177405" y="2178177"/>
                    <a:pt x="7245858" y="2109851"/>
                    <a:pt x="7245858" y="2025777"/>
                  </a:cubicBezTo>
                  <a:lnTo>
                    <a:pt x="7245858" y="165100"/>
                  </a:lnTo>
                  <a:cubicBezTo>
                    <a:pt x="7245858" y="80899"/>
                    <a:pt x="7177405" y="12700"/>
                    <a:pt x="7092823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3" name="Freeform 23" descr="preencoded.png"/>
          <p:cNvSpPr/>
          <p:nvPr/>
        </p:nvSpPr>
        <p:spPr>
          <a:xfrm>
            <a:off x="3510111" y="562079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" r="-469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6710214" y="5336679"/>
            <a:ext cx="3544044" cy="442912"/>
            <a:chOff x="0" y="0"/>
            <a:chExt cx="4725392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Product Identification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0214" y="5949702"/>
            <a:ext cx="3696891" cy="453629"/>
            <a:chOff x="0" y="0"/>
            <a:chExt cx="4929188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29188" cy="604838"/>
            </a:xfrm>
            <a:custGeom>
              <a:avLst/>
              <a:gdLst/>
              <a:ahLst/>
              <a:cxnLst/>
              <a:rect l="l" t="t" r="r" b="b"/>
              <a:pathLst>
                <a:path w="4929188" h="604838">
                  <a:moveTo>
                    <a:pt x="0" y="0"/>
                  </a:moveTo>
                  <a:lnTo>
                    <a:pt x="4929188" y="0"/>
                  </a:lnTo>
                  <a:lnTo>
                    <a:pt x="49291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49291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AI identifies specific products.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68380" y="6667797"/>
            <a:ext cx="10585698" cy="19050"/>
            <a:chOff x="0" y="0"/>
            <a:chExt cx="14114263" cy="25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14272" cy="25400"/>
            </a:xfrm>
            <a:custGeom>
              <a:avLst/>
              <a:gdLst/>
              <a:ahLst/>
              <a:cxnLst/>
              <a:rect l="l" t="t" r="r" b="b"/>
              <a:pathLst>
                <a:path w="1411427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101572" y="0"/>
                  </a:lnTo>
                  <a:cubicBezTo>
                    <a:pt x="14108557" y="0"/>
                    <a:pt x="14114272" y="5715"/>
                    <a:pt x="14114272" y="12700"/>
                  </a:cubicBezTo>
                  <a:cubicBezTo>
                    <a:pt x="14114272" y="19685"/>
                    <a:pt x="14108557" y="25400"/>
                    <a:pt x="1410157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87475" y="6823770"/>
            <a:ext cx="8161288" cy="1643211"/>
            <a:chOff x="0" y="0"/>
            <a:chExt cx="10881717" cy="2190948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10869041" cy="2178177"/>
            </a:xfrm>
            <a:custGeom>
              <a:avLst/>
              <a:gdLst/>
              <a:ahLst/>
              <a:cxnLst/>
              <a:rect l="l" t="t" r="r" b="b"/>
              <a:pathLst>
                <a:path w="10869041" h="2178177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709529" y="0"/>
                  </a:lnTo>
                  <a:cubicBezTo>
                    <a:pt x="10797667" y="0"/>
                    <a:pt x="10869041" y="71120"/>
                    <a:pt x="10869041" y="158750"/>
                  </a:cubicBezTo>
                  <a:lnTo>
                    <a:pt x="10869041" y="2019427"/>
                  </a:lnTo>
                  <a:cubicBezTo>
                    <a:pt x="10869041" y="2107057"/>
                    <a:pt x="10797667" y="2178177"/>
                    <a:pt x="10709529" y="2178177"/>
                  </a:cubicBezTo>
                  <a:lnTo>
                    <a:pt x="159512" y="2178177"/>
                  </a:lnTo>
                  <a:cubicBezTo>
                    <a:pt x="71374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881741" cy="2190877"/>
            </a:xfrm>
            <a:custGeom>
              <a:avLst/>
              <a:gdLst/>
              <a:ahLst/>
              <a:cxnLst/>
              <a:rect l="l" t="t" r="r" b="b"/>
              <a:pathLst>
                <a:path w="10881741" h="2190877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715879" y="0"/>
                  </a:lnTo>
                  <a:lnTo>
                    <a:pt x="10715879" y="6350"/>
                  </a:lnTo>
                  <a:lnTo>
                    <a:pt x="10715879" y="0"/>
                  </a:lnTo>
                  <a:cubicBezTo>
                    <a:pt x="10807447" y="0"/>
                    <a:pt x="10881741" y="73914"/>
                    <a:pt x="10881741" y="165100"/>
                  </a:cubicBezTo>
                  <a:lnTo>
                    <a:pt x="10875391" y="165100"/>
                  </a:lnTo>
                  <a:lnTo>
                    <a:pt x="10881741" y="165100"/>
                  </a:lnTo>
                  <a:lnTo>
                    <a:pt x="10881741" y="2025777"/>
                  </a:lnTo>
                  <a:lnTo>
                    <a:pt x="10875391" y="2025777"/>
                  </a:lnTo>
                  <a:lnTo>
                    <a:pt x="10881741" y="2025777"/>
                  </a:lnTo>
                  <a:cubicBezTo>
                    <a:pt x="10881741" y="2116963"/>
                    <a:pt x="10807447" y="2190877"/>
                    <a:pt x="10715879" y="2190877"/>
                  </a:cubicBezTo>
                  <a:lnTo>
                    <a:pt x="10715879" y="2184527"/>
                  </a:lnTo>
                  <a:lnTo>
                    <a:pt x="10715879" y="2190877"/>
                  </a:lnTo>
                  <a:lnTo>
                    <a:pt x="165862" y="2190877"/>
                  </a:lnTo>
                  <a:lnTo>
                    <a:pt x="165862" y="2184527"/>
                  </a:lnTo>
                  <a:lnTo>
                    <a:pt x="165862" y="2190877"/>
                  </a:lnTo>
                  <a:cubicBezTo>
                    <a:pt x="74295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280" y="2178177"/>
                    <a:pt x="165862" y="2178177"/>
                  </a:cubicBezTo>
                  <a:lnTo>
                    <a:pt x="10715879" y="2178177"/>
                  </a:lnTo>
                  <a:cubicBezTo>
                    <a:pt x="10800461" y="2178177"/>
                    <a:pt x="10869041" y="2109851"/>
                    <a:pt x="10869041" y="2025777"/>
                  </a:cubicBezTo>
                  <a:lnTo>
                    <a:pt x="10869041" y="165100"/>
                  </a:lnTo>
                  <a:cubicBezTo>
                    <a:pt x="10869041" y="80899"/>
                    <a:pt x="10800461" y="12700"/>
                    <a:pt x="10715879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35" name="Freeform 35" descr="preencoded.png"/>
          <p:cNvSpPr/>
          <p:nvPr/>
        </p:nvSpPr>
        <p:spPr>
          <a:xfrm>
            <a:off x="4868764" y="7396162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" r="-469"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9427518" y="7112050"/>
            <a:ext cx="3544044" cy="442912"/>
            <a:chOff x="0" y="0"/>
            <a:chExt cx="4725392" cy="5905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Comparative Analysis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27518" y="7725072"/>
            <a:ext cx="4725441" cy="453629"/>
            <a:chOff x="0" y="0"/>
            <a:chExt cx="6300588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300588" cy="604838"/>
            </a:xfrm>
            <a:custGeom>
              <a:avLst/>
              <a:gdLst/>
              <a:ahLst/>
              <a:cxnLst/>
              <a:rect l="l" t="t" r="r" b="b"/>
              <a:pathLst>
                <a:path w="6300588" h="604838">
                  <a:moveTo>
                    <a:pt x="0" y="0"/>
                  </a:moveTo>
                  <a:lnTo>
                    <a:pt x="6300588" y="0"/>
                  </a:lnTo>
                  <a:lnTo>
                    <a:pt x="6300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63005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System provides comparative analysis.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2238" y="1812875"/>
            <a:ext cx="9297322" cy="1132367"/>
            <a:chOff x="0" y="0"/>
            <a:chExt cx="12396430" cy="15098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96429" cy="1509823"/>
            </a:xfrm>
            <a:custGeom>
              <a:avLst/>
              <a:gdLst/>
              <a:ahLst/>
              <a:cxnLst/>
              <a:rect l="l" t="t" r="r" b="b"/>
              <a:pathLst>
                <a:path w="12396429" h="1509823">
                  <a:moveTo>
                    <a:pt x="0" y="0"/>
                  </a:moveTo>
                  <a:lnTo>
                    <a:pt x="12396429" y="0"/>
                  </a:lnTo>
                  <a:lnTo>
                    <a:pt x="1239642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396430" cy="156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Challenges and Solutions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119289"/>
            <a:ext cx="9455051" cy="2892384"/>
            <a:chOff x="0" y="0"/>
            <a:chExt cx="12606735" cy="38565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06655" cy="3856460"/>
            </a:xfrm>
            <a:custGeom>
              <a:avLst/>
              <a:gdLst/>
              <a:ahLst/>
              <a:cxnLst/>
              <a:rect l="l" t="t" r="r" b="b"/>
              <a:pathLst>
                <a:path w="12606655" h="3856460">
                  <a:moveTo>
                    <a:pt x="0" y="89099"/>
                  </a:moveTo>
                  <a:cubicBezTo>
                    <a:pt x="0" y="39889"/>
                    <a:pt x="74041" y="0"/>
                    <a:pt x="165227" y="0"/>
                  </a:cubicBezTo>
                  <a:lnTo>
                    <a:pt x="12441428" y="0"/>
                  </a:lnTo>
                  <a:lnTo>
                    <a:pt x="12441428" y="3427"/>
                  </a:lnTo>
                  <a:lnTo>
                    <a:pt x="12441428" y="0"/>
                  </a:lnTo>
                  <a:cubicBezTo>
                    <a:pt x="12532741" y="0"/>
                    <a:pt x="12606655" y="39889"/>
                    <a:pt x="12606655" y="89099"/>
                  </a:cubicBezTo>
                  <a:lnTo>
                    <a:pt x="12600305" y="89099"/>
                  </a:lnTo>
                  <a:lnTo>
                    <a:pt x="12606655" y="89099"/>
                  </a:lnTo>
                  <a:lnTo>
                    <a:pt x="12606655" y="3767362"/>
                  </a:lnTo>
                  <a:lnTo>
                    <a:pt x="12600305" y="3767362"/>
                  </a:lnTo>
                  <a:lnTo>
                    <a:pt x="12606655" y="3767362"/>
                  </a:lnTo>
                  <a:cubicBezTo>
                    <a:pt x="12606655" y="3816572"/>
                    <a:pt x="12532614" y="3856460"/>
                    <a:pt x="12441428" y="3856460"/>
                  </a:cubicBezTo>
                  <a:lnTo>
                    <a:pt x="12441428" y="3853033"/>
                  </a:lnTo>
                  <a:lnTo>
                    <a:pt x="12441428" y="3856460"/>
                  </a:lnTo>
                  <a:lnTo>
                    <a:pt x="165227" y="3856460"/>
                  </a:lnTo>
                  <a:lnTo>
                    <a:pt x="165227" y="3853033"/>
                  </a:lnTo>
                  <a:lnTo>
                    <a:pt x="165227" y="3856460"/>
                  </a:lnTo>
                  <a:cubicBezTo>
                    <a:pt x="73914" y="3856460"/>
                    <a:pt x="0" y="3816572"/>
                    <a:pt x="0" y="3767362"/>
                  </a:cubicBezTo>
                  <a:lnTo>
                    <a:pt x="0" y="89099"/>
                  </a:lnTo>
                  <a:lnTo>
                    <a:pt x="6350" y="89099"/>
                  </a:lnTo>
                  <a:lnTo>
                    <a:pt x="0" y="89099"/>
                  </a:lnTo>
                  <a:moveTo>
                    <a:pt x="12700" y="89099"/>
                  </a:moveTo>
                  <a:lnTo>
                    <a:pt x="12700" y="3767362"/>
                  </a:lnTo>
                  <a:lnTo>
                    <a:pt x="6350" y="3767362"/>
                  </a:lnTo>
                  <a:lnTo>
                    <a:pt x="12700" y="3767362"/>
                  </a:lnTo>
                  <a:cubicBezTo>
                    <a:pt x="12700" y="3812802"/>
                    <a:pt x="81026" y="3849607"/>
                    <a:pt x="165227" y="3849607"/>
                  </a:cubicBezTo>
                  <a:lnTo>
                    <a:pt x="12441428" y="3849607"/>
                  </a:lnTo>
                  <a:cubicBezTo>
                    <a:pt x="12525629" y="3849607"/>
                    <a:pt x="12593955" y="3812802"/>
                    <a:pt x="12593955" y="3767362"/>
                  </a:cubicBezTo>
                  <a:lnTo>
                    <a:pt x="12593955" y="89099"/>
                  </a:lnTo>
                  <a:cubicBezTo>
                    <a:pt x="12593955" y="43658"/>
                    <a:pt x="12525629" y="6854"/>
                    <a:pt x="12441428" y="6854"/>
                  </a:cubicBezTo>
                  <a:lnTo>
                    <a:pt x="165227" y="6854"/>
                  </a:lnTo>
                  <a:lnTo>
                    <a:pt x="165227" y="3427"/>
                  </a:lnTo>
                  <a:lnTo>
                    <a:pt x="165227" y="6854"/>
                  </a:lnTo>
                  <a:cubicBezTo>
                    <a:pt x="81026" y="6854"/>
                    <a:pt x="12700" y="43658"/>
                    <a:pt x="12700" y="8909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01762" y="3133576"/>
            <a:ext cx="9426476" cy="812899"/>
            <a:chOff x="0" y="0"/>
            <a:chExt cx="12568635" cy="1083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68682" cy="1083818"/>
            </a:xfrm>
            <a:custGeom>
              <a:avLst/>
              <a:gdLst/>
              <a:ahLst/>
              <a:cxnLst/>
              <a:rect l="l" t="t" r="r" b="b"/>
              <a:pathLst>
                <a:path w="12568682" h="1083818">
                  <a:moveTo>
                    <a:pt x="0" y="0"/>
                  </a:moveTo>
                  <a:lnTo>
                    <a:pt x="12568682" y="0"/>
                  </a:lnTo>
                  <a:lnTo>
                    <a:pt x="12568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85280" y="3313211"/>
            <a:ext cx="4141440" cy="453629"/>
            <a:chOff x="0" y="0"/>
            <a:chExt cx="5521920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21920" cy="604838"/>
            </a:xfrm>
            <a:custGeom>
              <a:avLst/>
              <a:gdLst/>
              <a:ahLst/>
              <a:cxnLst/>
              <a:rect l="l" t="t" r="r" b="b"/>
              <a:pathLst>
                <a:path w="5521920" h="604838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Challenge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03280" y="3313211"/>
            <a:ext cx="4141440" cy="453629"/>
            <a:chOff x="0" y="0"/>
            <a:chExt cx="5521920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21920" cy="604838"/>
            </a:xfrm>
            <a:custGeom>
              <a:avLst/>
              <a:gdLst/>
              <a:ahLst/>
              <a:cxnLst/>
              <a:rect l="l" t="t" r="r" b="b"/>
              <a:pathLst>
                <a:path w="5521920" h="604838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272525"/>
                  </a:solidFill>
                  <a:latin typeface="Lato Bold"/>
                  <a:ea typeface="Lato Bold"/>
                  <a:cs typeface="Lato Bold"/>
                  <a:sym typeface="Lato Bold"/>
                </a:rPr>
                <a:t>Solution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1762" y="3946475"/>
            <a:ext cx="9426476" cy="1266527"/>
            <a:chOff x="0" y="0"/>
            <a:chExt cx="12568635" cy="16887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68682" cy="1688719"/>
            </a:xfrm>
            <a:custGeom>
              <a:avLst/>
              <a:gdLst/>
              <a:ahLst/>
              <a:cxnLst/>
              <a:rect l="l" t="t" r="r" b="b"/>
              <a:pathLst>
                <a:path w="12568682" h="1688719">
                  <a:moveTo>
                    <a:pt x="0" y="0"/>
                  </a:moveTo>
                  <a:lnTo>
                    <a:pt x="12568682" y="0"/>
                  </a:lnTo>
                  <a:lnTo>
                    <a:pt x="12568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85280" y="4126111"/>
            <a:ext cx="4141440" cy="453629"/>
            <a:chOff x="0" y="0"/>
            <a:chExt cx="5521920" cy="6048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21920" cy="604838"/>
            </a:xfrm>
            <a:custGeom>
              <a:avLst/>
              <a:gdLst/>
              <a:ahLst/>
              <a:cxnLst/>
              <a:rect l="l" t="t" r="r" b="b"/>
              <a:pathLst>
                <a:path w="5521920" h="604838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Context Management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03280" y="4126111"/>
            <a:ext cx="4141440" cy="907256"/>
            <a:chOff x="0" y="0"/>
            <a:chExt cx="5521920" cy="12096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21920" cy="1209675"/>
            </a:xfrm>
            <a:custGeom>
              <a:avLst/>
              <a:gdLst/>
              <a:ahLst/>
              <a:cxnLst/>
              <a:rect l="l" t="t" r="r" b="b"/>
              <a:pathLst>
                <a:path w="5521920" h="1209675">
                  <a:moveTo>
                    <a:pt x="0" y="0"/>
                  </a:moveTo>
                  <a:lnTo>
                    <a:pt x="5521920" y="0"/>
                  </a:lnTo>
                  <a:lnTo>
                    <a:pt x="55219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5521920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Implemented chat history tracking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85280" y="5393977"/>
            <a:ext cx="4141440" cy="453629"/>
            <a:chOff x="0" y="0"/>
            <a:chExt cx="5521920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21920" cy="604838"/>
            </a:xfrm>
            <a:custGeom>
              <a:avLst/>
              <a:gdLst/>
              <a:ahLst/>
              <a:cxnLst/>
              <a:rect l="l" t="t" r="r" b="b"/>
              <a:pathLst>
                <a:path w="5521920" h="604838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Dynamic UI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03280" y="5393977"/>
            <a:ext cx="4141440" cy="453629"/>
            <a:chOff x="0" y="0"/>
            <a:chExt cx="5521920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21920" cy="604838"/>
            </a:xfrm>
            <a:custGeom>
              <a:avLst/>
              <a:gdLst/>
              <a:ahLst/>
              <a:cxnLst/>
              <a:rect l="l" t="t" r="r" b="b"/>
              <a:pathLst>
                <a:path w="5521920" h="604838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Used Streamlit session state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50477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064111" y="1968564"/>
            <a:ext cx="6381780" cy="6349871"/>
          </a:xfrm>
          <a:custGeom>
            <a:avLst/>
            <a:gdLst/>
            <a:ahLst/>
            <a:cxnLst/>
            <a:rect l="l" t="t" r="r" b="b"/>
            <a:pathLst>
              <a:path w="6381780" h="6349871">
                <a:moveTo>
                  <a:pt x="0" y="0"/>
                </a:moveTo>
                <a:lnTo>
                  <a:pt x="6381780" y="0"/>
                </a:lnTo>
                <a:lnTo>
                  <a:pt x="6381780" y="6349872"/>
                </a:lnTo>
                <a:lnTo>
                  <a:pt x="0" y="6349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04835" y="1968564"/>
            <a:ext cx="6381780" cy="6349871"/>
          </a:xfrm>
          <a:custGeom>
            <a:avLst/>
            <a:gdLst/>
            <a:ahLst/>
            <a:cxnLst/>
            <a:rect l="l" t="t" r="r" b="b"/>
            <a:pathLst>
              <a:path w="6381780" h="6349871">
                <a:moveTo>
                  <a:pt x="0" y="0"/>
                </a:moveTo>
                <a:lnTo>
                  <a:pt x="6381780" y="0"/>
                </a:lnTo>
                <a:lnTo>
                  <a:pt x="6381780" y="6349872"/>
                </a:lnTo>
                <a:lnTo>
                  <a:pt x="0" y="6349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50477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6052929" y="1965021"/>
            <a:ext cx="6182142" cy="6356958"/>
          </a:xfrm>
          <a:custGeom>
            <a:avLst/>
            <a:gdLst/>
            <a:ahLst/>
            <a:cxnLst/>
            <a:rect l="l" t="t" r="r" b="b"/>
            <a:pathLst>
              <a:path w="6182142" h="6356958">
                <a:moveTo>
                  <a:pt x="0" y="0"/>
                </a:moveTo>
                <a:lnTo>
                  <a:pt x="6182142" y="0"/>
                </a:lnTo>
                <a:lnTo>
                  <a:pt x="618214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Lato Bold</vt:lpstr>
      <vt:lpstr>Calibri</vt:lpstr>
      <vt:lpstr>Arimo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AI-Sales-Agent-Solution-Presentation.pptx</dc:title>
  <cp:lastModifiedBy>Arivanan Vamathevan</cp:lastModifiedBy>
  <cp:revision>2</cp:revision>
  <dcterms:created xsi:type="dcterms:W3CDTF">2006-08-16T00:00:00Z</dcterms:created>
  <dcterms:modified xsi:type="dcterms:W3CDTF">2025-03-24T03:36:13Z</dcterms:modified>
  <dc:identifier>DAGim1aYUCo</dc:identifier>
</cp:coreProperties>
</file>